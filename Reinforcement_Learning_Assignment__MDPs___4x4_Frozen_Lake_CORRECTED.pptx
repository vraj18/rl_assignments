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JetBrains Mono"/>
      <p:bold r:id="rId30"/>
    </p:embeddedFont>
    <p:embeddedFont>
      <p:font typeface="Plus Jakarta Sans"/>
      <p:bold r:id="rId3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3"/>
  </p:normalViewPr>
  <p:slideViewPr>
    <p:cSldViewPr snapToGrid="0" snapToObjects="1">
      <p:cViewPr>
        <p:scale>
          <a:sx n="130" d="100"/>
          <a:sy n="130" d="100"/>
        </p:scale>
        <p:origin x="-256" y="-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4263181"/>
            <a:ext cx="105156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38200" y="4263181"/>
            <a:ext cx="10515600" cy="9525"/>
          </a:xfrm>
          <a:prstGeom prst="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38200" y="2327969"/>
            <a:ext cx="9901237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140"/>
              </a:lnSpc>
            </a:pPr>
            <a:r>
              <a:rPr sz="3600" b="1" i="0" u="none">
                <a:solidFill>
                  <a:srgbClr val="FAFAFA"/>
                </a:solidFill>
                <a:latin typeface="Plus Jakarta Sans"/>
              </a:rPr>
              <a:t>Markov Decision Processes: 4×4 Frozen Lake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569791"/>
            <a:ext cx="10239375" cy="274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A1A1AA"/>
                </a:solidFill>
                <a:latin typeface="Plus Jakarta Sans"/>
              </a:rPr>
              <a:t>Policy Evaluation • Policy Iteration • Value Iteration • Closed-Form Linear Algebra • Parametric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1927919"/>
            <a:ext cx="486370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3C5FD"/>
                </a:solidFill>
                <a:latin typeface="JetBrains Mono"/>
              </a:rPr>
              <a:t>CSL 412 • REINFORCEMENT LEARNING 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539406"/>
            <a:ext cx="24407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JetBrains Mono"/>
              </a:rPr>
              <a:t>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4739431"/>
            <a:ext cx="244078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4E4E7"/>
                </a:solidFill>
                <a:latin typeface="Plus Jakarta Sans"/>
              </a:rPr>
              <a:t>4×4 Grid (16 States, 2 Holes)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1825" y="4539406"/>
            <a:ext cx="375623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JetBrains Mono"/>
              </a:rPr>
              <a:t>DYNAMICS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71825" y="4739431"/>
            <a:ext cx="375623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4E4E7"/>
                </a:solidFill>
                <a:latin typeface="Plus Jakarta Sans"/>
              </a:rPr>
              <a:t>Deterministic Transition / Random Policy π₀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7813" y="4539406"/>
            <a:ext cx="1905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JetBrains Mono"/>
              </a:rPr>
              <a:t>EVALUATION TOLERANCE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7813" y="4739431"/>
            <a:ext cx="1905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4E4E7"/>
                </a:solidFill>
                <a:latin typeface="Plus Jakarta Sans"/>
              </a:rPr>
              <a:t>ε = 10⁻⁵ • γ = 0.9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919412"/>
            <a:ext cx="2026890" cy="1847850"/>
          </a:xfrm>
          <a:prstGeom prst="roundRect">
            <a:avLst>
              <a:gd name="adj" fmla="val 4123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84140" y="2919412"/>
            <a:ext cx="2026890" cy="1847850"/>
          </a:xfrm>
          <a:prstGeom prst="roundRect">
            <a:avLst>
              <a:gd name="adj" fmla="val 4123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082480" y="2919412"/>
            <a:ext cx="2026890" cy="1847850"/>
          </a:xfrm>
          <a:prstGeom prst="roundRect">
            <a:avLst>
              <a:gd name="adj" fmla="val 4123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280820" y="2809875"/>
            <a:ext cx="2026890" cy="2066925"/>
          </a:xfrm>
          <a:prstGeom prst="roundRect">
            <a:avLst>
              <a:gd name="adj" fmla="val 3759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479160" y="2819400"/>
            <a:ext cx="2026890" cy="2047875"/>
          </a:xfrm>
          <a:prstGeom prst="roundRect">
            <a:avLst>
              <a:gd name="adj" fmla="val 3759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CURRICULUM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Assignment Structure &amp; Study Phases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48012"/>
            <a:ext cx="1664940" cy="139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12740" y="3148012"/>
            <a:ext cx="1664940" cy="139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11080" y="3148012"/>
            <a:ext cx="1664940" cy="1390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9420" y="3038475"/>
            <a:ext cx="1664940" cy="1609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7760" y="3048000"/>
            <a:ext cx="1664940" cy="1590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4ED8"/>
                </a:solidFill>
                <a:latin typeface="Plus Jakarta San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433762"/>
            <a:ext cx="203521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Setup &amp;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729037"/>
            <a:ext cx="164589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16-state gridworld, MDP 5-tuple, action semantics, and reward specifications.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2265" y="3433762"/>
            <a:ext cx="203521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Policy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2265" y="3729037"/>
            <a:ext cx="164589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Bellman expectation sweeps under π₀, manual hand check, and state-action Q-values.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0605" y="3433762"/>
            <a:ext cx="203521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Optimal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0605" y="3729037"/>
            <a:ext cx="164589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Policy iteration, value iteration, contraction rate analysis, and parity verification.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8945" y="3324225"/>
            <a:ext cx="1728184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Exact Linear Algebra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18945" y="3838575"/>
            <a:ext cx="164589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Closed-form matrix formulation (I − γP^π)V = R and computational complexity scaling.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7285" y="3333750"/>
            <a:ext cx="203521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Sensitivity &amp; RL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17285" y="3629025"/>
            <a:ext cx="1645890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1E3A8A"/>
                </a:solidFill>
                <a:latin typeface="Plus Jakarta Sans"/>
              </a:rPr>
              <a:t>Discount factor γ, step penalties, and generalization to sample-based model-free RL.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090737"/>
            <a:ext cx="3429000" cy="3429000"/>
          </a:xfrm>
          <a:prstGeom prst="roundRect">
            <a:avLst>
              <a:gd name="adj" fmla="val 1666"/>
            </a:avLst>
          </a:prstGeom>
          <a:noFill/>
          <a:ln w="9525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33900" y="3057525"/>
            <a:ext cx="6972300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33900" y="3600450"/>
            <a:ext cx="6972300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33900" y="4143375"/>
            <a:ext cx="6972300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5325" y="2100262"/>
            <a:ext cx="8548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50193" y="2100262"/>
            <a:ext cx="8548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05062" y="2100262"/>
            <a:ext cx="8548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59931" y="2100262"/>
            <a:ext cx="845343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5325" y="2952750"/>
            <a:ext cx="8929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88293" y="2952750"/>
            <a:ext cx="740568" cy="852487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28862" y="2952750"/>
            <a:ext cx="8929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21831" y="2952750"/>
            <a:ext cx="883443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5325" y="3805237"/>
            <a:ext cx="8929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588293" y="3805237"/>
            <a:ext cx="8929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81262" y="3805237"/>
            <a:ext cx="740568" cy="852487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21831" y="3805237"/>
            <a:ext cx="883443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95325" y="4657725"/>
            <a:ext cx="8929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588293" y="4657725"/>
            <a:ext cx="8929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81262" y="4657725"/>
            <a:ext cx="8929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374231" y="4657725"/>
            <a:ext cx="731043" cy="852487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33900" y="3057525"/>
            <a:ext cx="28575" cy="409575"/>
          </a:xfrm>
          <a:prstGeom prst="rect">
            <a:avLst/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33900" y="3600450"/>
            <a:ext cx="28575" cy="409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33900" y="4143375"/>
            <a:ext cx="28575" cy="4095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5325" y="2943225"/>
            <a:ext cx="8548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540668" y="2100262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550193" y="2943225"/>
            <a:ext cx="8548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395537" y="2100262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405062" y="2943225"/>
            <a:ext cx="8548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50406" y="2100262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59931" y="2943225"/>
            <a:ext cx="845343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95325" y="3795712"/>
            <a:ext cx="8929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578768" y="2952750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588293" y="3795712"/>
            <a:ext cx="7405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319337" y="2952750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328862" y="3795712"/>
            <a:ext cx="8929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12306" y="2952750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21831" y="3795712"/>
            <a:ext cx="883443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95325" y="4648200"/>
            <a:ext cx="8929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578768" y="3805237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588293" y="4648200"/>
            <a:ext cx="8929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471737" y="3805237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481262" y="4648200"/>
            <a:ext cx="7405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12306" y="3805237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21831" y="4648200"/>
            <a:ext cx="883443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578768" y="4657725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471737" y="4657725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364706" y="4657725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1 • ENVIRONMENT DEFINITION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4×4 Frozen Lake Grid Configuration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14875" y="3057525"/>
            <a:ext cx="7477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16 Discrete States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14875" y="3295650"/>
            <a:ext cx="7477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Numbered row-wise from 0 (top-left) to 15 (bottom-right).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14875" y="3600450"/>
            <a:ext cx="7477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2 Terminal Holes: States 5 &amp; 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14875" y="3838575"/>
            <a:ext cx="7477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Episodes terminate with negative return upon slipping into either hazard.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14875" y="4143375"/>
            <a:ext cx="74771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Goal Terminal State 15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14875" y="4381500"/>
            <a:ext cx="7477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Delivers +1.0 terminal reward; non-terminal discount factor γ = 0.9.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1525" y="2176462"/>
            <a:ext cx="9786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8650" y="2724150"/>
            <a:ext cx="9786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09090B"/>
                </a:solidFill>
                <a:latin typeface="Plus Jakarta Sans"/>
              </a:rPr>
              <a:t>START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26393" y="2176462"/>
            <a:ext cx="9786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483518" y="2724150"/>
            <a:ext cx="9786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71717A"/>
                </a:solidFill>
                <a:latin typeface="Plus Jakarta Sans"/>
              </a:rPr>
              <a:t>FROZEN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481262" y="2176462"/>
            <a:ext cx="9786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38387" y="2724150"/>
            <a:ext cx="9786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71717A"/>
                </a:solidFill>
                <a:latin typeface="Plus Jakarta Sans"/>
              </a:rPr>
              <a:t>FROZEN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6131" y="2176462"/>
            <a:ext cx="9786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93256" y="2724150"/>
            <a:ext cx="9786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71717A"/>
                </a:solidFill>
                <a:latin typeface="Plus Jakarta Sans"/>
              </a:rPr>
              <a:t>FROZEN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1525" y="3028950"/>
            <a:ext cx="10167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4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8650" y="3576637"/>
            <a:ext cx="10167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71717A"/>
                </a:solidFill>
                <a:latin typeface="Plus Jakarta Sans"/>
              </a:rPr>
              <a:t>FROZEN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77615" y="3178968"/>
            <a:ext cx="4381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DC2626"/>
                </a:solidFill>
                <a:latin typeface="Plus Jakarta Sans"/>
              </a:rPr>
              <a:t>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10940" y="3445668"/>
            <a:ext cx="5715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991B1B"/>
                </a:solidFill>
                <a:latin typeface="JetBrains Mono"/>
              </a:rPr>
              <a:t>s = 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05062" y="3028950"/>
            <a:ext cx="10167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262187" y="3576637"/>
            <a:ext cx="10167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71717A"/>
                </a:solidFill>
                <a:latin typeface="Plus Jakarta Sans"/>
              </a:rPr>
              <a:t>FROZEN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98031" y="3028950"/>
            <a:ext cx="10167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155156" y="3576637"/>
            <a:ext cx="10167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71717A"/>
                </a:solidFill>
                <a:latin typeface="Plus Jakarta Sans"/>
              </a:rPr>
              <a:t>FROZEN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1525" y="3881437"/>
            <a:ext cx="10167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8650" y="4429125"/>
            <a:ext cx="10167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71717A"/>
                </a:solidFill>
                <a:latin typeface="Plus Jakarta Sans"/>
              </a:rPr>
              <a:t>FROZEN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664493" y="3881437"/>
            <a:ext cx="10167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521618" y="4429125"/>
            <a:ext cx="10167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71717A"/>
                </a:solidFill>
                <a:latin typeface="Plus Jakarta Sans"/>
              </a:rPr>
              <a:t>FROZEN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70584" y="4031456"/>
            <a:ext cx="4381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DC2626"/>
                </a:solidFill>
                <a:latin typeface="Plus Jakarta Sans"/>
              </a:rPr>
              <a:t>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75334" y="4298156"/>
            <a:ext cx="6286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991B1B"/>
                </a:solidFill>
                <a:latin typeface="JetBrains Mono"/>
              </a:rPr>
              <a:t>s = 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298031" y="3881437"/>
            <a:ext cx="10167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55156" y="4429125"/>
            <a:ext cx="10167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71717A"/>
                </a:solidFill>
                <a:latin typeface="Plus Jakarta Sans"/>
              </a:rPr>
              <a:t>FROZEN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1525" y="4733925"/>
            <a:ext cx="10167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12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8650" y="5291137"/>
            <a:ext cx="10167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71717A"/>
                </a:solidFill>
                <a:latin typeface="Plus Jakarta Sans"/>
              </a:rPr>
              <a:t>FROZEN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664493" y="4733925"/>
            <a:ext cx="10167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13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21618" y="5291137"/>
            <a:ext cx="10167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71717A"/>
                </a:solidFill>
                <a:latin typeface="Plus Jakarta Sans"/>
              </a:rPr>
              <a:t>FROZEN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557462" y="4733925"/>
            <a:ext cx="1016793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14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414587" y="5291137"/>
            <a:ext cx="1016793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71717A"/>
                </a:solidFill>
                <a:latin typeface="Plus Jakarta Sans"/>
              </a:rPr>
              <a:t>FROZEN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654028" y="4888706"/>
            <a:ext cx="457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6A34A"/>
                </a:solidFill>
                <a:latin typeface="Plus Jakarta Sans"/>
              </a:rPr>
              <a:t>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68303" y="5155406"/>
            <a:ext cx="6286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15803D"/>
                </a:solidFill>
                <a:latin typeface="JetBrains Mono"/>
              </a:rPr>
              <a:t>s =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763291"/>
            <a:ext cx="5276850" cy="2121991"/>
          </a:xfrm>
          <a:prstGeom prst="roundRect">
            <a:avLst>
              <a:gd name="adj" fmla="val 359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751087"/>
            <a:ext cx="5276850" cy="2146399"/>
          </a:xfrm>
          <a:prstGeom prst="roundRect">
            <a:avLst>
              <a:gd name="adj" fmla="val 355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2025" y="3923258"/>
            <a:ext cx="47244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1 • TRANSITION SEMANTICS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Policy Choice vs. Physical Transition Mechanics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382416"/>
            <a:ext cx="48196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The initial uniform random policy selects each directional action with equal probability: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5775" y="4037558"/>
            <a:ext cx="5676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9090B"/>
                </a:solidFill>
                <a:latin typeface="JetBrains Mono"/>
              </a:rPr>
              <a:t>P(L|s) = P(D|s) = P(R|s) = P(U|s) = 0.25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4456658"/>
            <a:ext cx="5905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Plus Jakarta Sans"/>
              </a:rPr>
              <a:t>The 0.25 value governs action selection, not physical environment slip.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3360687"/>
            <a:ext cx="48196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Once an action is picked, the agent advances to the adjacent destination with probability 1: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3068091"/>
            <a:ext cx="2095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[Policy Probabilities]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3675" y="3039516"/>
            <a:ext cx="194750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Random Policy π₀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575" y="3051125"/>
            <a:ext cx="200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9090B"/>
                </a:solidFill>
                <a:latin typeface="JetBrains Mono"/>
              </a:rPr>
              <a:t>[Physical Transition]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01025" y="3027312"/>
            <a:ext cx="271283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Deterministic Movement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3901529"/>
            <a:ext cx="568642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52525B"/>
                </a:solidFill>
                <a:latin typeface="Plus Jakarta Sans"/>
              </a:rPr>
              <a:t>R → right cell</a:t>
            </a:r>
            <a:r>
              <a:rPr sz="1050" b="0" i="0" u="none">
                <a:solidFill>
                  <a:srgbClr val="52525B"/>
                </a:solidFill>
                <a:latin typeface="Plus Jakarta Sans"/>
              </a:rPr>
              <a:t> | </a:t>
            </a:r>
            <a:r>
              <a:rPr sz="1050" b="1" i="0" u="none">
                <a:solidFill>
                  <a:srgbClr val="52525B"/>
                </a:solidFill>
                <a:latin typeface="Plus Jakarta Sans"/>
              </a:rPr>
              <a:t>L → left cell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4141440"/>
            <a:ext cx="568642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52525B"/>
                </a:solidFill>
                <a:latin typeface="Plus Jakarta Sans"/>
              </a:rPr>
              <a:t>U → upper cell</a:t>
            </a:r>
            <a:r>
              <a:rPr sz="1050" b="0" i="0" u="none">
                <a:solidFill>
                  <a:srgbClr val="52525B"/>
                </a:solidFill>
                <a:latin typeface="Plus Jakarta Sans"/>
              </a:rPr>
              <a:t> | </a:t>
            </a:r>
            <a:r>
              <a:rPr sz="1050" b="1" i="0" u="none">
                <a:solidFill>
                  <a:srgbClr val="52525B"/>
                </a:solidFill>
                <a:latin typeface="Plus Jakarta Sans"/>
              </a:rPr>
              <a:t>D → lower cell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575" y="4381351"/>
            <a:ext cx="568642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52525B"/>
                </a:solidFill>
                <a:latin typeface="Plus Jakarta Sans"/>
              </a:rPr>
              <a:t>Grid Boundaries:</a:t>
            </a:r>
            <a:r>
              <a:rPr sz="1050" b="0" i="0" u="none">
                <a:solidFill>
                  <a:srgbClr val="52525B"/>
                </a:solidFill>
                <a:latin typeface="Plus Jakarta Sans"/>
              </a:rPr>
              <a:t> Bumping into exterior walls bounces agent back in place.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862262"/>
            <a:ext cx="5286375" cy="1924050"/>
          </a:xfrm>
          <a:prstGeom prst="roundRect">
            <a:avLst>
              <a:gd name="adj" fmla="val 396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38875" y="2638425"/>
            <a:ext cx="5267325" cy="2371576"/>
          </a:xfrm>
          <a:prstGeom prst="roundRect">
            <a:avLst>
              <a:gd name="adj" fmla="val 3213"/>
            </a:avLst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1 • MATHEMATICAL FORMALISM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Reward Function &amp; The MDP 5-Tuple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5575" y="2905125"/>
            <a:ext cx="4829175" cy="1838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3C5FD"/>
                </a:solidFill>
                <a:latin typeface="Plus Jakarta Sans"/>
              </a:rPr>
              <a:t>Formal Tuple Definition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138487"/>
            <a:ext cx="621327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Reward Mechanics R(s, a, s')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575" y="3181350"/>
            <a:ext cx="5686425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AFAFA"/>
                </a:solidFill>
                <a:latin typeface="Plus Jakarta Sans"/>
              </a:rPr>
              <a:t>M = (S, A, P, R, γ)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575" y="3609975"/>
            <a:ext cx="4829175" cy="1133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85"/>
              </a:lnSpc>
            </a:pPr>
            <a:r>
              <a:rPr sz="1050" b="0" i="0" u="none">
                <a:solidFill>
                  <a:srgbClr val="A1A1AA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A1A1AA"/>
                </a:solidFill>
                <a:latin typeface="Plus Jakarta Sans"/>
              </a:rPr>
              <a:t>S:</a:t>
            </a:r>
            <a:r>
              <a:rPr sz="1050" b="0" i="0" u="none">
                <a:solidFill>
                  <a:srgbClr val="A1A1AA"/>
                </a:solidFill>
                <a:latin typeface="Plus Jakarta Sans"/>
              </a:rPr>
              <a:t> 16 discrete grid coordinates {0, 1, ..., 15}</a:t>
            </a:r>
            <a:r>
              <a:t>
</a:t>
            </a:r>
            <a:r>
              <a:rPr sz="1050" b="0" i="0" u="none">
                <a:solidFill>
                  <a:srgbClr val="A1A1AA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A1A1AA"/>
                </a:solidFill>
                <a:latin typeface="Plus Jakarta Sans"/>
              </a:rPr>
              <a:t>A:</a:t>
            </a:r>
            <a:r>
              <a:rPr sz="1050" b="0" i="0" u="none">
                <a:solidFill>
                  <a:srgbClr val="A1A1AA"/>
                </a:solidFill>
                <a:latin typeface="Plus Jakarta Sans"/>
              </a:rPr>
              <a:t> 4 discrete moves {Left, Down, Right, Up}</a:t>
            </a:r>
            <a:r>
              <a:t>
</a:t>
            </a:r>
            <a:r>
              <a:rPr sz="1050" b="0" i="0" u="none">
                <a:solidFill>
                  <a:srgbClr val="A1A1AA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A1A1AA"/>
                </a:solidFill>
                <a:latin typeface="Plus Jakarta Sans"/>
              </a:rPr>
              <a:t>P:</a:t>
            </a:r>
            <a:r>
              <a:rPr sz="1050" b="0" i="0" u="none">
                <a:solidFill>
                  <a:srgbClr val="A1A1AA"/>
                </a:solidFill>
                <a:latin typeface="Plus Jakarta Sans"/>
              </a:rPr>
              <a:t> Deterministic transitions given selected action</a:t>
            </a:r>
            <a:r>
              <a:t>
</a:t>
            </a:r>
            <a:r>
              <a:rPr sz="1050" b="0" i="0" u="none">
                <a:solidFill>
                  <a:srgbClr val="A1A1AA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A1A1AA"/>
                </a:solidFill>
                <a:latin typeface="Plus Jakarta Sans"/>
              </a:rPr>
              <a:t>R:</a:t>
            </a:r>
            <a:r>
              <a:rPr sz="1050" b="0" i="0" u="none">
                <a:solidFill>
                  <a:srgbClr val="A1A1AA"/>
                </a:solidFill>
                <a:latin typeface="Plus Jakarta Sans"/>
              </a:rPr>
              <a:t> Step penalty (−0.01) vs. terminal payoffs (±1.0)</a:t>
            </a:r>
            <a:r>
              <a:t>
</a:t>
            </a:r>
            <a:r>
              <a:rPr sz="1050" b="0" i="0" u="none">
                <a:solidFill>
                  <a:srgbClr val="A1A1AA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A1A1AA"/>
                </a:solidFill>
                <a:latin typeface="Plus Jakarta Sans"/>
              </a:rPr>
              <a:t>γ:</a:t>
            </a:r>
            <a:r>
              <a:rPr sz="1050" b="0" i="0" u="none">
                <a:solidFill>
                  <a:srgbClr val="A1A1AA"/>
                </a:solidFill>
                <a:latin typeface="Plus Jakarta Sans"/>
              </a:rPr>
              <a:t> Discount rate = 0.9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3509962"/>
            <a:ext cx="15811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Ordinary Transition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9700" y="3509962"/>
            <a:ext cx="762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090B"/>
                </a:solidFill>
                <a:latin typeface="JetBrains Mono"/>
              </a:rPr>
              <a:t>−0.01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025" y="3910012"/>
            <a:ext cx="17145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Reaching Goal Cell (s' = 15)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9700" y="3910012"/>
            <a:ext cx="762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6A34A"/>
                </a:solidFill>
                <a:latin typeface="JetBrains Mono"/>
              </a:rPr>
              <a:t>+1.00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310062"/>
            <a:ext cx="17621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Falling into Hole (s' ∈ {5, 10})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9700" y="4310062"/>
            <a:ext cx="762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C2626"/>
                </a:solidFill>
                <a:latin typeface="JetBrains Mono"/>
              </a:rPr>
              <a:t>−1.00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601664"/>
            <a:ext cx="10820400" cy="1201340"/>
          </a:xfrm>
          <a:prstGeom prst="roundRect">
            <a:avLst>
              <a:gd name="adj" fmla="val 6342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3993505"/>
            <a:ext cx="10820400" cy="1015156"/>
          </a:xfrm>
          <a:prstGeom prst="roundRect">
            <a:avLst>
              <a:gd name="adj" fmla="val 7506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535" y="3087439"/>
            <a:ext cx="5812780" cy="40124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0510" y="4431655"/>
            <a:ext cx="5450978" cy="3769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2 • POLICY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Bellman Expectation Equation under Policy 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84546" y="2839789"/>
            <a:ext cx="12561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71717A"/>
                </a:solidFill>
                <a:latin typeface="JetBrains Mono"/>
              </a:rPr>
              <a:t>STANDARD BELLMAN EXPECTATION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08359" y="4193530"/>
            <a:ext cx="12608718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1E40AF"/>
                </a:solidFill>
                <a:latin typeface="JetBrains Mono"/>
              </a:rPr>
              <a:t>DETERMINISTIC TRANSITION FORMULATION (Π₀ WITH Π(A|S) = 0.25)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09332" y="2286000"/>
            <a:ext cx="5896867" cy="3000375"/>
          </a:xfrm>
          <a:prstGeom prst="roundRect">
            <a:avLst>
              <a:gd name="adj" fmla="val 2539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2524125"/>
            <a:ext cx="4580632" cy="1314450"/>
          </a:xfrm>
          <a:prstGeom prst="roundRect">
            <a:avLst>
              <a:gd name="adj" fmla="val 5797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3990975"/>
            <a:ext cx="4580632" cy="1057275"/>
          </a:xfrm>
          <a:prstGeom prst="roundRect">
            <a:avLst>
              <a:gd name="adj" fmla="val 7207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357" y="2724150"/>
            <a:ext cx="5496817" cy="2190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2 • NUMERICAL CONVERGENCE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Iterative Policy Evaluation: Convergence Curve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724150"/>
            <a:ext cx="548701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090B"/>
                </a:solidFill>
                <a:latin typeface="Plus Jakarta Sans"/>
              </a:rPr>
              <a:t>Stopping Criterion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981325"/>
            <a:ext cx="427583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Initialize V₀(s) = 0 for all non-terminal states. Terminate evaluation when max infinity norm delta drops below threshold: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457575"/>
            <a:ext cx="522572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JetBrains Mono"/>
              </a:rPr>
              <a:t>||V_{k+1} − V_k||_∞ &lt; 10⁻⁵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191000"/>
            <a:ext cx="548701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090B"/>
                </a:solidFill>
                <a:latin typeface="Plus Jakarta Sans"/>
              </a:rPr>
              <a:t>Sweep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4448175"/>
            <a:ext cx="427583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Converges strictly at </a:t>
            </a:r>
            <a:r>
              <a:rPr sz="1050" b="1" i="0" u="none">
                <a:solidFill>
                  <a:srgbClr val="52525B"/>
                </a:solidFill>
                <a:latin typeface="Plus Jakarta Sans"/>
              </a:rPr>
              <a:t>sweep 41</a:t>
            </a:r>
            <a:r>
              <a:rPr sz="1050" b="0" i="0" u="none">
                <a:solidFill>
                  <a:srgbClr val="52525B"/>
                </a:solidFill>
                <a:latin typeface="Plus Jakarta Sans"/>
              </a:rPr>
              <a:t> with final residual ||ΔV||_∞ = 8.642 × 10⁻⁶.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9357" y="2486025"/>
            <a:ext cx="222125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9090B"/>
                </a:solidFill>
                <a:latin typeface="Plus Jakarta Sans"/>
              </a:rPr>
              <a:t>||V_{k+1} − V_k||_∞ (Log Scale)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3150" y="2486025"/>
            <a:ext cx="1678781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2563EB"/>
                </a:solidFill>
                <a:latin typeface="JetBrains Mono"/>
              </a:rPr>
              <a:t>41 Sweeps to ε = 10⁻⁵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9357" y="4953000"/>
            <a:ext cx="7524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Sweep 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3449" y="4953000"/>
            <a:ext cx="8191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Sweep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4217" y="4953000"/>
            <a:ext cx="8191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Sweep 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64984" y="4953000"/>
            <a:ext cx="819150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Sweep 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05752" y="4953000"/>
            <a:ext cx="1285875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71717A"/>
                </a:solidFill>
                <a:latin typeface="JetBrains Mono"/>
              </a:rPr>
              <a:t>Sweep 41 (Stop)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557462"/>
            <a:ext cx="3454449" cy="2495401"/>
          </a:xfrm>
          <a:prstGeom prst="roundRect">
            <a:avLst>
              <a:gd name="adj" fmla="val 3053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68849" y="2359372"/>
            <a:ext cx="3454449" cy="2891581"/>
          </a:xfrm>
          <a:prstGeom prst="roundRect">
            <a:avLst>
              <a:gd name="adj" fmla="val 2635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51899" y="2841277"/>
            <a:ext cx="3454449" cy="1927770"/>
          </a:xfrm>
          <a:prstGeom prst="roundRect">
            <a:avLst>
              <a:gd name="adj" fmla="val 395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23925" y="3576637"/>
            <a:ext cx="2978199" cy="1238101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06974" y="3378547"/>
            <a:ext cx="2978199" cy="1634281"/>
          </a:xfrm>
          <a:prstGeom prst="roundRect">
            <a:avLst>
              <a:gd name="adj" fmla="val 3496"/>
            </a:avLst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90024" y="3403252"/>
            <a:ext cx="2978199" cy="841920"/>
          </a:xfrm>
          <a:prstGeom prst="roundRect">
            <a:avLst>
              <a:gd name="adj" fmla="val 6788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0024" y="4388048"/>
            <a:ext cx="114300" cy="133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2 • HAND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Manual Verification for State s =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2795587"/>
            <a:ext cx="390888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9090B"/>
                </a:solidFill>
                <a:latin typeface="Plus Jakarta Sans"/>
              </a:rPr>
              <a:t>Step 1: Compute V₁(6)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128962"/>
            <a:ext cx="3073449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State 6 transitions: L → 5 (Hole), D → 10 (Hole), R → 7, U → 2. Initial V₀ = 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225" y="3690937"/>
            <a:ext cx="2844849" cy="10095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09090B"/>
                </a:solidFill>
                <a:latin typeface="JetBrains Mono"/>
              </a:rPr>
              <a:t>L: −1.0 + 0.9(0) = −1.0</a:t>
            </a:r>
            <a:r>
              <a:t>
</a:t>
            </a:r>
            <a:r>
              <a:rPr sz="975" b="0" i="0" u="none">
                <a:solidFill>
                  <a:srgbClr val="09090B"/>
                </a:solidFill>
                <a:latin typeface="JetBrains Mono"/>
              </a:rPr>
              <a:t> D: −1.0 + 0.9(0) = −1.0</a:t>
            </a:r>
            <a:r>
              <a:t>
</a:t>
            </a:r>
            <a:r>
              <a:rPr sz="975" b="0" i="0" u="none">
                <a:solidFill>
                  <a:srgbClr val="09090B"/>
                </a:solidFill>
                <a:latin typeface="JetBrains Mono"/>
              </a:rPr>
              <a:t> R: −0.01 + 0.9(0) = −0.01</a:t>
            </a:r>
            <a:r>
              <a:t>
</a:t>
            </a:r>
            <a:r>
              <a:rPr sz="975" b="0" i="0" u="none">
                <a:solidFill>
                  <a:srgbClr val="09090B"/>
                </a:solidFill>
                <a:latin typeface="JetBrains Mono"/>
              </a:rPr>
              <a:t> U: −0.01 + 0.9(0) = −0.01</a:t>
            </a:r>
            <a:r>
              <a:t>
</a:t>
            </a:r>
            <a:r>
              <a:rPr sz="975" b="0" i="0" u="none">
                <a:solidFill>
                  <a:srgbClr val="09090B"/>
                </a:solidFill>
                <a:latin typeface="JetBrains Mono"/>
              </a:rPr>
              <a:t> V₁(6) = 0.25(−2.02) = </a:t>
            </a:r>
            <a:r>
              <a:rPr sz="975" b="1" i="0" u="none">
                <a:solidFill>
                  <a:srgbClr val="09090B"/>
                </a:solidFill>
                <a:latin typeface="JetBrains Mono"/>
              </a:rPr>
              <a:t>−0.5050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6974" y="2597497"/>
            <a:ext cx="390888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9090B"/>
                </a:solidFill>
                <a:latin typeface="Plus Jakarta Sans"/>
              </a:rPr>
              <a:t>Step 2: Compute V₂(6)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6974" y="2930872"/>
            <a:ext cx="3073449" cy="352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Adjacent non-terminal states after sweep 1 have V₁(7) = V₁(2) = −0.010: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1274" y="3492847"/>
            <a:ext cx="2844849" cy="14056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09090B"/>
                </a:solidFill>
                <a:latin typeface="JetBrains Mono"/>
              </a:rPr>
              <a:t>L (Hole 5): −1.0</a:t>
            </a:r>
            <a:r>
              <a:t>
</a:t>
            </a:r>
            <a:r>
              <a:rPr sz="975" b="0" i="0" u="none">
                <a:solidFill>
                  <a:srgbClr val="09090B"/>
                </a:solidFill>
                <a:latin typeface="JetBrains Mono"/>
              </a:rPr>
              <a:t> D (Hole 10): −1.0</a:t>
            </a:r>
            <a:r>
              <a:t>
</a:t>
            </a:r>
            <a:r>
              <a:rPr sz="975" b="0" i="0" u="none">
                <a:solidFill>
                  <a:srgbClr val="09090B"/>
                </a:solidFill>
                <a:latin typeface="JetBrains Mono"/>
              </a:rPr>
              <a:t> R (s=7): −0.01 + 0.9(−0.01) = −0.019</a:t>
            </a:r>
            <a:r>
              <a:t>
</a:t>
            </a:r>
            <a:r>
              <a:rPr sz="975" b="0" i="0" u="none">
                <a:solidFill>
                  <a:srgbClr val="09090B"/>
                </a:solidFill>
                <a:latin typeface="JetBrains Mono"/>
              </a:rPr>
              <a:t> U (s=2): −0.01 + 0.9(−0.01) = −0.019</a:t>
            </a:r>
            <a:r>
              <a:t>
</a:t>
            </a:r>
            <a:r>
              <a:rPr sz="975" b="0" i="0" u="none">
                <a:solidFill>
                  <a:srgbClr val="09090B"/>
                </a:solidFill>
                <a:latin typeface="JetBrains Mono"/>
              </a:rPr>
              <a:t> V₂(6) = 0.25(−2.038) = </a:t>
            </a:r>
            <a:r>
              <a:rPr sz="975" b="1" i="0" u="none">
                <a:solidFill>
                  <a:srgbClr val="09090B"/>
                </a:solidFill>
                <a:latin typeface="JetBrains Mono"/>
              </a:rPr>
              <a:t>−0.5095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024" y="3079402"/>
            <a:ext cx="390197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D4ED8"/>
                </a:solidFill>
                <a:latin typeface="Plus Jakarta Sans"/>
              </a:rPr>
              <a:t>Implementation Parity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4324" y="3517552"/>
            <a:ext cx="2844849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1E3A8A"/>
                </a:solidFill>
                <a:latin typeface="JetBrains Mono"/>
              </a:rPr>
              <a:t>Iterative V₁(6) = −0.50500</a:t>
            </a:r>
            <a:r>
              <a:t>
</a:t>
            </a:r>
            <a:r>
              <a:rPr sz="975" b="0" i="0" u="none">
                <a:solidFill>
                  <a:srgbClr val="1E3A8A"/>
                </a:solidFill>
                <a:latin typeface="JetBrains Mono"/>
              </a:rPr>
              <a:t> Iterative V₂(6) = −0.50950</a:t>
            </a:r>
            <a:r>
              <a:t>
</a:t>
            </a:r>
            <a:r>
              <a:rPr sz="975" b="0" i="0" u="none">
                <a:solidFill>
                  <a:srgbClr val="1E3A8A"/>
                </a:solidFill>
                <a:latin typeface="JetBrains Mono"/>
              </a:rPr>
              <a:t> Absolute Error = 0.00000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024" y="4359473"/>
            <a:ext cx="3722749" cy="171450"/>
          </a:xfrm>
          <a:prstGeom prst="rect">
            <a:avLst/>
          </a:prstGeom>
          <a:noFill/>
        </p:spPr>
        <p:txBody>
          <a:bodyPr wrap="none" lIns="17145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E40AF"/>
                </a:solidFill>
                <a:latin typeface="Plus Jakarta Sans"/>
              </a:rPr>
              <a:t>Exact theoretical match verified.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862262"/>
            <a:ext cx="5723632" cy="1914525"/>
          </a:xfrm>
          <a:prstGeom prst="roundRect">
            <a:avLst>
              <a:gd name="adj" fmla="val 2985"/>
            </a:avLst>
          </a:prstGeom>
          <a:noFill/>
          <a:ln w="9525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752332" y="2686050"/>
            <a:ext cx="4753867" cy="1057275"/>
          </a:xfrm>
          <a:prstGeom prst="roundRect">
            <a:avLst>
              <a:gd name="adj" fmla="val 7207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752332" y="3895725"/>
            <a:ext cx="4753867" cy="1057275"/>
          </a:xfrm>
          <a:prstGeom prst="roundRect">
            <a:avLst>
              <a:gd name="adj" fmla="val 7207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114401" y="2871787"/>
            <a:ext cx="9525" cy="4667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543002" y="2871787"/>
            <a:ext cx="9525" cy="4667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71603" y="2871787"/>
            <a:ext cx="9525" cy="4667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123926" y="3348037"/>
            <a:ext cx="1428601" cy="4667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114401" y="3348037"/>
            <a:ext cx="9525" cy="4667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543002" y="3348037"/>
            <a:ext cx="9525" cy="4667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71603" y="3348037"/>
            <a:ext cx="9525" cy="4667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14401" y="3824287"/>
            <a:ext cx="9525" cy="4667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52527" y="3824287"/>
            <a:ext cx="1428601" cy="466725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543002" y="3824287"/>
            <a:ext cx="9525" cy="4667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81128" y="3824287"/>
            <a:ext cx="1419076" cy="466725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971603" y="3824287"/>
            <a:ext cx="9525" cy="4667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14401" y="4300537"/>
            <a:ext cx="9525" cy="4667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552527" y="4300537"/>
            <a:ext cx="1428601" cy="466725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543002" y="4300537"/>
            <a:ext cx="9525" cy="4667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981128" y="4300537"/>
            <a:ext cx="1419076" cy="466725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971603" y="4300537"/>
            <a:ext cx="9525" cy="4667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2 • VALUE FUNCTION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57225"/>
            <a:ext cx="1150620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Converged Value Matrix V^π₀ (Random Policy)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099" y="3005137"/>
            <a:ext cx="151905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9090B"/>
                </a:solidFill>
                <a:latin typeface="JetBrains Mono"/>
              </a:rPr>
              <a:t>-0.5388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78701" y="3005137"/>
            <a:ext cx="151905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9090B"/>
                </a:solidFill>
                <a:latin typeface="JetBrains Mono"/>
              </a:rPr>
              <a:t>-0.6364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07302" y="3005137"/>
            <a:ext cx="151905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9090B"/>
                </a:solidFill>
                <a:latin typeface="JetBrains Mono"/>
              </a:rPr>
              <a:t>-0.5087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093" y="3005137"/>
            <a:ext cx="150714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9090B"/>
                </a:solidFill>
                <a:latin typeface="JetBrains Mono"/>
              </a:rPr>
              <a:t>-0.3718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099" y="3481387"/>
            <a:ext cx="151905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9090B"/>
                </a:solidFill>
                <a:latin typeface="JetBrains Mono"/>
              </a:rPr>
              <a:t>-0.6364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78701" y="3481387"/>
            <a:ext cx="151905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DC2626"/>
                </a:solidFill>
                <a:latin typeface="JetBrains Mono"/>
              </a:rPr>
              <a:t>0.0000 (H)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7302" y="3481387"/>
            <a:ext cx="151905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9090B"/>
                </a:solidFill>
                <a:latin typeface="JetBrains Mono"/>
              </a:rPr>
              <a:t>-0.6995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37093" y="3481387"/>
            <a:ext cx="150714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9090B"/>
                </a:solidFill>
                <a:latin typeface="JetBrains Mono"/>
              </a:rPr>
              <a:t>-0.3558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0099" y="3957637"/>
            <a:ext cx="151905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9090B"/>
                </a:solidFill>
                <a:latin typeface="JetBrains Mono"/>
              </a:rPr>
              <a:t>-0.5087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78701" y="3957637"/>
            <a:ext cx="151905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9090B"/>
                </a:solidFill>
                <a:latin typeface="JetBrains Mono"/>
              </a:rPr>
              <a:t>-0.6995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07302" y="3957637"/>
            <a:ext cx="151905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DC2626"/>
                </a:solidFill>
                <a:latin typeface="JetBrains Mono"/>
              </a:rPr>
              <a:t>0.0000 (H)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093" y="3957637"/>
            <a:ext cx="150714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6A34A"/>
                </a:solidFill>
                <a:latin typeface="JetBrains Mono"/>
              </a:rPr>
              <a:t>-0.1097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099" y="4433887"/>
            <a:ext cx="151905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9090B"/>
                </a:solidFill>
                <a:latin typeface="JetBrains Mono"/>
              </a:rPr>
              <a:t>-0.3718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78701" y="4433887"/>
            <a:ext cx="151905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9090B"/>
                </a:solidFill>
                <a:latin typeface="JetBrains Mono"/>
              </a:rPr>
              <a:t>-0.3558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07302" y="4433887"/>
            <a:ext cx="151905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6A34A"/>
                </a:solidFill>
                <a:latin typeface="JetBrains Mono"/>
              </a:rPr>
              <a:t>-0.1097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093" y="4433887"/>
            <a:ext cx="150714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6A34A"/>
                </a:solidFill>
                <a:latin typeface="JetBrains Mono"/>
              </a:rPr>
              <a:t>0.0000 (G)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52357" y="2886075"/>
            <a:ext cx="523964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090B"/>
                </a:solidFill>
                <a:latin typeface="Plus Jakarta Sans"/>
              </a:rPr>
              <a:t>Expected Discounted Return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52357" y="3143250"/>
            <a:ext cx="444906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Values represent long-term returns under completely untutored random exploration.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52357" y="4095750"/>
            <a:ext cx="523964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090B"/>
                </a:solidFill>
                <a:latin typeface="Plus Jakarta Sans"/>
              </a:rPr>
              <a:t>Near-Goal States Still Negative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52357" y="4352925"/>
            <a:ext cx="444906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States 7, 11, 13, and 14 stay negative (−0.11 to −0.36): the 25% chance of a hole offsets the 25% chance of the goal under pure random play.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857946"/>
            <a:ext cx="5276850" cy="1932533"/>
          </a:xfrm>
          <a:prstGeom prst="roundRect">
            <a:avLst>
              <a:gd name="adj" fmla="val 3943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692003"/>
            <a:ext cx="5276850" cy="2264568"/>
          </a:xfrm>
          <a:prstGeom prst="roundRect">
            <a:avLst>
              <a:gd name="adj" fmla="val 3364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2025" y="3795117"/>
            <a:ext cx="472440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505575" y="4375546"/>
            <a:ext cx="4724400" cy="9525"/>
          </a:xfrm>
          <a:prstGeom prst="rect">
            <a:avLst/>
          </a:prstGeom>
          <a:solidFill>
            <a:srgbClr val="E4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2 • ACTION-VALUE EXTRACTION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Deriving Q^π(s, a) from the Converged Value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134171"/>
            <a:ext cx="6200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Q-Value 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2025" y="3467546"/>
            <a:ext cx="5905500" cy="2132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Because movement is deterministic after choosing action 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775" y="3909417"/>
            <a:ext cx="56769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9090B"/>
                </a:solidFill>
                <a:latin typeface="JetBrains Mono"/>
              </a:rPr>
              <a:t>Q^π(s, a) = R(s, a, s'_a) + 0.9 · V^π(s'_a)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025" y="4328517"/>
            <a:ext cx="5905500" cy="18573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71717A"/>
                </a:solidFill>
                <a:latin typeface="Plus Jakarta Sans"/>
              </a:rPr>
              <a:t>Forces action a first, then evaluates following policy π thereafter.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2968228"/>
            <a:ext cx="56864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Case Study: State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575" y="4470796"/>
            <a:ext cx="481965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Optimal Choice: argmax_a Q(14, a) = 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3301603"/>
            <a:ext cx="568642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52525B"/>
                </a:solidFill>
                <a:latin typeface="Plus Jakarta Sans"/>
              </a:rPr>
              <a:t>L (s=13):</a:t>
            </a:r>
            <a:r>
              <a:rPr sz="1050" b="0" i="0" u="none">
                <a:solidFill>
                  <a:srgbClr val="52525B"/>
                </a:solidFill>
                <a:latin typeface="Plus Jakarta Sans"/>
              </a:rPr>
              <a:t> −0.01 + 0.9(−0.3558) = </a:t>
            </a:r>
            <a:r>
              <a:rPr sz="1050" b="1" i="0" u="none">
                <a:solidFill>
                  <a:srgbClr val="52525B"/>
                </a:solidFill>
                <a:latin typeface="Plus Jakarta Sans"/>
              </a:rPr>
              <a:t>−0.3302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3541514"/>
            <a:ext cx="568642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52525B"/>
                </a:solidFill>
                <a:latin typeface="Plus Jakarta Sans"/>
              </a:rPr>
              <a:t>D (s=14):</a:t>
            </a:r>
            <a:r>
              <a:rPr sz="1050" b="0" i="0" u="none">
                <a:solidFill>
                  <a:srgbClr val="52525B"/>
                </a:solidFill>
                <a:latin typeface="Plus Jakarta Sans"/>
              </a:rPr>
              <a:t> −0.01 + 0.9(−0.1097) = </a:t>
            </a:r>
            <a:r>
              <a:rPr sz="1050" b="1" i="0" u="none">
                <a:solidFill>
                  <a:srgbClr val="52525B"/>
                </a:solidFill>
                <a:latin typeface="Plus Jakarta Sans"/>
              </a:rPr>
              <a:t>−0.1087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3781425"/>
            <a:ext cx="568642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52525B"/>
                </a:solidFill>
                <a:latin typeface="Plus Jakarta Sans"/>
              </a:rPr>
              <a:t>R (s=15):</a:t>
            </a:r>
            <a:r>
              <a:rPr sz="1050" b="0" i="0" u="none">
                <a:solidFill>
                  <a:srgbClr val="52525B"/>
                </a:solidFill>
                <a:latin typeface="Plus Jakarta Sans"/>
              </a:rPr>
              <a:t> +1.0 + 0.9(0) = </a:t>
            </a:r>
            <a:r>
              <a:rPr sz="1050" b="1" i="0" u="none">
                <a:solidFill>
                  <a:srgbClr val="52525B"/>
                </a:solidFill>
                <a:latin typeface="Plus Jakarta Sans"/>
              </a:rPr>
              <a:t>+1.0000 (Max / Goal)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575" y="4021335"/>
            <a:ext cx="5686425" cy="239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52525B"/>
                </a:solidFill>
                <a:latin typeface="Plus Jakarta Sans"/>
              </a:rPr>
              <a:t>U (s=10):</a:t>
            </a:r>
            <a:r>
              <a:rPr sz="1050" b="0" i="0" u="none">
                <a:solidFill>
                  <a:srgbClr val="52525B"/>
                </a:solidFill>
                <a:latin typeface="Plus Jakarta Sans"/>
              </a:rPr>
              <a:t> −1.0 + 0.9(0) = </a:t>
            </a:r>
            <a:r>
              <a:rPr sz="1050" b="1" i="0" u="none">
                <a:solidFill>
                  <a:srgbClr val="52525B"/>
                </a:solidFill>
                <a:latin typeface="Plus Jakarta Sans"/>
              </a:rPr>
              <a:t>−1.0000 (Hole)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85800" y="2076450"/>
          <a:ext cx="10820397" cy="3381375"/>
        </p:xfrm>
        <a:graphic>
          <a:graphicData uri="http://schemas.openxmlformats.org/drawingml/2006/table">
            <a:tbl>
              <a:tblPr/>
              <a:tblGrid>
                <a:gridCol w="14335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5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5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32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7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08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526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State 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Q(s, Left)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Q(s, Down)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Q(s, Right)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Q(s, Up)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Greedy 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526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-0.495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-0.583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-0.583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-0.495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Left / Up (Wall)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526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-0.495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DC2626"/>
                          </a:solidFill>
                          <a:latin typeface="JetBrains Mono"/>
                        </a:rPr>
                        <a:t>-1.000 (H)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-0.468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-0.583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Right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526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-0.583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-0.640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-0.345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-0.468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Right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526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-0.468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16A34A"/>
                          </a:solidFill>
                          <a:latin typeface="JetBrains Mono"/>
                        </a:rPr>
                        <a:t>-0.330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-0.345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-0.345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Down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526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-0.583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-0.468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DC2626"/>
                          </a:solidFill>
                          <a:latin typeface="JetBrains Mono"/>
                        </a:rPr>
                        <a:t>-1.000 (H)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-0.495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Down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526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DC2626"/>
                          </a:solidFill>
                          <a:latin typeface="JetBrains Mono"/>
                        </a:rPr>
                        <a:t>-1.000 (H)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DC2626"/>
                          </a:solidFill>
                          <a:latin typeface="JetBrains Mono"/>
                        </a:rPr>
                        <a:t>-1.000 (H)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16A34A"/>
                          </a:solidFill>
                          <a:latin typeface="JetBrains Mono"/>
                        </a:rPr>
                        <a:t>-0.330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-0.468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Right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526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-0.640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16A34A"/>
                          </a:solidFill>
                          <a:latin typeface="JetBrains Mono"/>
                        </a:rPr>
                        <a:t>-0.109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-0.330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-0.345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Down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526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-0.468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-0.345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-0.640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-0.583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2563EB"/>
                          </a:solidFill>
                          <a:latin typeface="Plus Jakarta Sans"/>
                        </a:rPr>
                        <a:t>Down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526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-0.468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16A34A"/>
                          </a:solidFill>
                          <a:latin typeface="JetBrains Mono"/>
                        </a:rPr>
                        <a:t>-0.330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DC2626"/>
                          </a:solidFill>
                          <a:latin typeface="JetBrains Mono"/>
                        </a:rPr>
                        <a:t>-1.000 (H)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DC2626"/>
                          </a:solidFill>
                          <a:latin typeface="JetBrains Mono"/>
                        </a:rPr>
                        <a:t>-1.000 (H)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Down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1526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11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DC2626"/>
                          </a:solidFill>
                          <a:latin typeface="JetBrains Mono"/>
                        </a:rPr>
                        <a:t>-1.000 (H)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16A34A"/>
                          </a:solidFill>
                          <a:latin typeface="JetBrains Mono"/>
                        </a:rPr>
                        <a:t>1.000 (G)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-0.109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-0.330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Down (Goal)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1526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-0.345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-0.345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16A34A"/>
                          </a:solidFill>
                          <a:latin typeface="JetBrains Mono"/>
                        </a:rPr>
                        <a:t>-0.330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-0.468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Right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1526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13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-0.345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-0.330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16A34A"/>
                          </a:solidFill>
                          <a:latin typeface="JetBrains Mono"/>
                        </a:rPr>
                        <a:t>-0.109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-0.640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Right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1537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14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-0.330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-0.109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 u="none">
                          <a:solidFill>
                            <a:srgbClr val="16A34A"/>
                          </a:solidFill>
                          <a:latin typeface="JetBrains Mono"/>
                        </a:rPr>
                        <a:t>1.000 (G)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 u="none">
                          <a:solidFill>
                            <a:srgbClr val="DC2626"/>
                          </a:solidFill>
                          <a:latin typeface="JetBrains Mono"/>
                        </a:rPr>
                        <a:t>-1.000 (H)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Right (Goal)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85800" y="4191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2 • TABULAR DECOMPOSITION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0007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9090B"/>
                </a:solidFill>
                <a:latin typeface="Plus Jakarta Sans"/>
              </a:rPr>
              <a:t>Q^π₀(s, a) for All Non-Terminal States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07559" y="2986087"/>
            <a:ext cx="4598640" cy="167640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2452687"/>
            <a:ext cx="5955059" cy="819150"/>
          </a:xfrm>
          <a:prstGeom prst="roundRect">
            <a:avLst>
              <a:gd name="adj" fmla="val 9302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3424237"/>
            <a:ext cx="5955059" cy="809625"/>
          </a:xfrm>
          <a:prstGeom prst="roundRect">
            <a:avLst>
              <a:gd name="adj" fmla="val 9411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4386262"/>
            <a:ext cx="5955059" cy="809625"/>
          </a:xfrm>
          <a:prstGeom prst="roundRect">
            <a:avLst>
              <a:gd name="adj" fmla="val 9411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5825" y="2652712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5825" y="3624262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5825" y="4586287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3 • DYNAMIC PROGRAMMING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Policy Iteration: Algorithmic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7529" y="3290887"/>
            <a:ext cx="5138700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1D4ED8"/>
                </a:solidFill>
                <a:latin typeface="Plus Jakarta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5635" y="3910012"/>
            <a:ext cx="496248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1E40AF"/>
                </a:solidFill>
                <a:latin typeface="Plus Jakarta Sans"/>
              </a:rPr>
              <a:t>Policy Improvements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5635" y="4176712"/>
            <a:ext cx="49624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2563EB"/>
                </a:solidFill>
                <a:latin typeface="Plus Jakarta Sans"/>
              </a:rPr>
              <a:t>+ 1 final stability check (π₃ == π₂)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2652712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AFAFA"/>
                </a:solidFill>
                <a:latin typeface="Plus Jakarta San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3624262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AFAFA"/>
                </a:solidFill>
                <a:latin typeface="Plus Jakarta San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4586287"/>
            <a:ext cx="590550" cy="304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FAFAFA"/>
                </a:solidFill>
                <a:latin typeface="Plus Jakarta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3025" y="2652712"/>
            <a:ext cx="5296169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090B"/>
                </a:solidFill>
                <a:latin typeface="Plus Jakarta Sans"/>
              </a:rPr>
              <a:t>Policy Evaluation (Inner Loop)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3025" y="2890837"/>
            <a:ext cx="504397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Compute exact V^π until maximum delta ||V_{k+1} − V_k||_∞ &lt; 10⁻⁵.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3025" y="3624262"/>
            <a:ext cx="561730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090B"/>
                </a:solidFill>
                <a:latin typeface="Plus Jakarta Sans"/>
              </a:rPr>
              <a:t>Policy Improvement (Outer Loop)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3025" y="3862387"/>
            <a:ext cx="5349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Update π_{new}(s) = argmax_a Q^π(s, a) for every non-terminal state.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3025" y="4586287"/>
            <a:ext cx="447966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090B"/>
                </a:solidFill>
                <a:latin typeface="Plus Jakarta Sans"/>
              </a:rPr>
              <a:t>Stopping Condition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3025" y="4824412"/>
            <a:ext cx="426634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Terminate when π_{new}(s) == π(s) globally for all states.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784276"/>
            <a:ext cx="3473499" cy="1984771"/>
          </a:xfrm>
          <a:prstGeom prst="roundRect">
            <a:avLst>
              <a:gd name="adj" fmla="val 3839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9799" y="2784276"/>
            <a:ext cx="3473499" cy="1984771"/>
          </a:xfrm>
          <a:prstGeom prst="roundRect">
            <a:avLst>
              <a:gd name="adj" fmla="val 3839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13799" y="2774751"/>
            <a:ext cx="3492549" cy="2003821"/>
          </a:xfrm>
          <a:prstGeom prst="roundRect">
            <a:avLst>
              <a:gd name="adj" fmla="val 3802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3212901"/>
            <a:ext cx="3149649" cy="1394221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11724" y="3212901"/>
            <a:ext cx="3149649" cy="1394221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185249" y="3212901"/>
            <a:ext cx="3149649" cy="1394221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191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3 • STEP-BY-STEP EVOLUTION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007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9090B"/>
                </a:solidFill>
                <a:latin typeface="Plus Jakarta Sans"/>
              </a:rPr>
              <a:t>Policy Sequence: π₀ (Random) → π₁ → π₂ (Stable)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018" y="2946201"/>
            <a:ext cx="3937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71717A"/>
                </a:solidFill>
                <a:latin typeface="JetBrains Mono"/>
              </a:rPr>
              <a:t>π₀: Random (41 Sweeps)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8318" y="3327201"/>
            <a:ext cx="3708462" cy="1165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95"/>
              </a:lnSpc>
            </a:pPr>
            <a:r>
              <a:rPr sz="1350" b="0" i="0" u="none">
                <a:solidFill>
                  <a:srgbClr val="71717A"/>
                </a:solidFill>
                <a:latin typeface="JetBrains Mono"/>
              </a:rPr>
              <a:t>← → → ↓</a:t>
            </a:r>
            <a:r>
              <a:t>
</a:t>
            </a:r>
            <a:r>
              <a:rPr sz="1350" b="0" i="0" u="none">
                <a:solidFill>
                  <a:srgbClr val="71717A"/>
                </a:solidFill>
                <a:latin typeface="JetBrains Mono"/>
              </a:rPr>
              <a:t> ↓ </a:t>
            </a:r>
            <a:r>
              <a:rPr sz="1350" b="1" i="0" u="none">
                <a:solidFill>
                  <a:srgbClr val="DC2626"/>
                </a:solidFill>
                <a:latin typeface="JetBrains Mono"/>
              </a:rPr>
              <a:t>H</a:t>
            </a:r>
            <a:r>
              <a:rPr sz="1350" b="0" i="0" u="none">
                <a:solidFill>
                  <a:srgbClr val="71717A"/>
                </a:solidFill>
                <a:latin typeface="JetBrains Mono"/>
              </a:rPr>
              <a:t> → ↓</a:t>
            </a:r>
            <a:r>
              <a:t>
</a:t>
            </a:r>
            <a:r>
              <a:rPr sz="1350" b="0" i="0" u="none">
                <a:solidFill>
                  <a:srgbClr val="71717A"/>
                </a:solidFill>
                <a:latin typeface="JetBrains Mono"/>
              </a:rPr>
              <a:t> ↓ ↓ </a:t>
            </a:r>
            <a:r>
              <a:rPr sz="1350" b="1" i="0" u="none">
                <a:solidFill>
                  <a:srgbClr val="DC2626"/>
                </a:solidFill>
                <a:latin typeface="JetBrains Mono"/>
              </a:rPr>
              <a:t>H</a:t>
            </a:r>
            <a:r>
              <a:rPr sz="1350" b="0" i="0" u="none">
                <a:solidFill>
                  <a:srgbClr val="71717A"/>
                </a:solidFill>
                <a:latin typeface="JetBrains Mono"/>
              </a:rPr>
              <a:t> ↓</a:t>
            </a:r>
            <a:r>
              <a:t>
</a:t>
            </a:r>
            <a:r>
              <a:rPr sz="1350" b="0" i="0" u="none">
                <a:solidFill>
                  <a:srgbClr val="71717A"/>
                </a:solidFill>
                <a:latin typeface="JetBrains Mono"/>
              </a:rPr>
              <a:t> → → → </a:t>
            </a:r>
            <a:r>
              <a:rPr sz="1350" b="1" i="0" u="none">
                <a:solidFill>
                  <a:srgbClr val="16A34A"/>
                </a:solidFill>
                <a:latin typeface="JetBrains Mono"/>
              </a:rPr>
              <a:t>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8018" y="2946201"/>
            <a:ext cx="3937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71717A"/>
                </a:solidFill>
                <a:latin typeface="JetBrains Mono"/>
              </a:rPr>
              <a:t>π₁ (67 Sweeps)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2318" y="3327201"/>
            <a:ext cx="3708462" cy="1165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95"/>
              </a:lnSpc>
            </a:pPr>
            <a:r>
              <a:rPr sz="1350" b="0" i="0" u="none">
                <a:solidFill>
                  <a:srgbClr val="09090B"/>
                </a:solidFill>
                <a:latin typeface="JetBrains Mono"/>
              </a:rPr>
              <a:t>→ → → ↓</a:t>
            </a:r>
            <a:r>
              <a:t>
</a:t>
            </a:r>
            <a:r>
              <a:rPr sz="1350" b="0" i="0" u="none">
                <a:solidFill>
                  <a:srgbClr val="09090B"/>
                </a:solidFill>
                <a:latin typeface="JetBrains Mono"/>
              </a:rPr>
              <a:t> ↓ </a:t>
            </a:r>
            <a:r>
              <a:rPr sz="1350" b="1" i="0" u="none">
                <a:solidFill>
                  <a:srgbClr val="DC2626"/>
                </a:solidFill>
                <a:latin typeface="JetBrains Mono"/>
              </a:rPr>
              <a:t>H</a:t>
            </a:r>
            <a:r>
              <a:rPr sz="1350" b="0" i="0" u="none">
                <a:solidFill>
                  <a:srgbClr val="09090B"/>
                </a:solidFill>
                <a:latin typeface="JetBrains Mono"/>
              </a:rPr>
              <a:t> → ↓</a:t>
            </a:r>
            <a:r>
              <a:t>
</a:t>
            </a:r>
            <a:r>
              <a:rPr sz="1350" b="0" i="0" u="none">
                <a:solidFill>
                  <a:srgbClr val="09090B"/>
                </a:solidFill>
                <a:latin typeface="JetBrains Mono"/>
              </a:rPr>
              <a:t> ↓ ↓ </a:t>
            </a:r>
            <a:r>
              <a:rPr sz="1350" b="1" i="0" u="none">
                <a:solidFill>
                  <a:srgbClr val="DC2626"/>
                </a:solidFill>
                <a:latin typeface="JetBrains Mono"/>
              </a:rPr>
              <a:t>H</a:t>
            </a:r>
            <a:r>
              <a:rPr sz="1350" b="0" i="0" u="none">
                <a:solidFill>
                  <a:srgbClr val="09090B"/>
                </a:solidFill>
                <a:latin typeface="JetBrains Mono"/>
              </a:rPr>
              <a:t> ↓</a:t>
            </a:r>
            <a:r>
              <a:t>
</a:t>
            </a:r>
            <a:r>
              <a:rPr sz="1350" b="0" i="0" u="none">
                <a:solidFill>
                  <a:srgbClr val="09090B"/>
                </a:solidFill>
                <a:latin typeface="JetBrains Mono"/>
              </a:rPr>
              <a:t> → → → </a:t>
            </a:r>
            <a:r>
              <a:rPr sz="1350" b="1" i="0" u="none">
                <a:solidFill>
                  <a:srgbClr val="16A34A"/>
                </a:solidFill>
                <a:latin typeface="JetBrains Mono"/>
              </a:rPr>
              <a:t>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1543" y="2946201"/>
            <a:ext cx="3937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1D4ED8"/>
                </a:solidFill>
                <a:latin typeface="JetBrains Mono"/>
              </a:rPr>
              <a:t>π₂: STABLE (67 Sweeps)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843" y="3327201"/>
            <a:ext cx="3708462" cy="11656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95"/>
              </a:lnSpc>
            </a:pPr>
            <a:r>
              <a:rPr sz="1350" b="0" i="0" u="none">
                <a:solidFill>
                  <a:srgbClr val="1E3A8A"/>
                </a:solidFill>
                <a:latin typeface="JetBrains Mono"/>
              </a:rPr>
              <a:t>→ → → ↓</a:t>
            </a:r>
            <a:r>
              <a:t>
</a:t>
            </a:r>
            <a:r>
              <a:rPr sz="1350" b="0" i="0" u="none">
                <a:solidFill>
                  <a:srgbClr val="1E3A8A"/>
                </a:solidFill>
                <a:latin typeface="JetBrains Mono"/>
              </a:rPr>
              <a:t> ↓ </a:t>
            </a:r>
            <a:r>
              <a:rPr sz="1350" b="1" i="0" u="none">
                <a:solidFill>
                  <a:srgbClr val="DC2626"/>
                </a:solidFill>
                <a:latin typeface="JetBrains Mono"/>
              </a:rPr>
              <a:t>H</a:t>
            </a:r>
            <a:r>
              <a:rPr sz="1350" b="0" i="0" u="none">
                <a:solidFill>
                  <a:srgbClr val="1E3A8A"/>
                </a:solidFill>
                <a:latin typeface="JetBrains Mono"/>
              </a:rPr>
              <a:t> → ↓</a:t>
            </a:r>
            <a:r>
              <a:t>
</a:t>
            </a:r>
            <a:r>
              <a:rPr sz="1350" b="0" i="0" u="none">
                <a:solidFill>
                  <a:srgbClr val="1E3A8A"/>
                </a:solidFill>
                <a:latin typeface="JetBrains Mono"/>
              </a:rPr>
              <a:t> ↓ ↓ </a:t>
            </a:r>
            <a:r>
              <a:rPr sz="1350" b="1" i="0" u="none">
                <a:solidFill>
                  <a:srgbClr val="DC2626"/>
                </a:solidFill>
                <a:latin typeface="JetBrains Mono"/>
              </a:rPr>
              <a:t>H</a:t>
            </a:r>
            <a:r>
              <a:rPr sz="1350" b="0" i="0" u="none">
                <a:solidFill>
                  <a:srgbClr val="1E3A8A"/>
                </a:solidFill>
                <a:latin typeface="JetBrains Mono"/>
              </a:rPr>
              <a:t> ↓</a:t>
            </a:r>
            <a:r>
              <a:t>
</a:t>
            </a:r>
            <a:r>
              <a:rPr sz="1350" b="0" i="0" u="none">
                <a:solidFill>
                  <a:srgbClr val="1E3A8A"/>
                </a:solidFill>
                <a:latin typeface="JetBrains Mono"/>
              </a:rPr>
              <a:t> → → → </a:t>
            </a:r>
            <a:r>
              <a:rPr sz="1350" b="1" i="0" u="none">
                <a:solidFill>
                  <a:srgbClr val="16A34A"/>
                </a:solidFill>
                <a:latin typeface="JetBrains Mono"/>
              </a:rPr>
              <a:t>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090737"/>
            <a:ext cx="3429000" cy="3429000"/>
          </a:xfrm>
          <a:prstGeom prst="roundRect">
            <a:avLst>
              <a:gd name="adj" fmla="val 1666"/>
            </a:avLst>
          </a:prstGeom>
          <a:noFill/>
          <a:ln w="9525">
            <a:solidFill>
              <a:srgbClr val="A1A1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33900" y="3048000"/>
            <a:ext cx="6972300" cy="400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33900" y="3600450"/>
            <a:ext cx="6972300" cy="4000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33900" y="4152900"/>
            <a:ext cx="6972300" cy="4095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5325" y="2100262"/>
            <a:ext cx="8548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550193" y="2100262"/>
            <a:ext cx="8548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405062" y="2100262"/>
            <a:ext cx="8548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59931" y="2100262"/>
            <a:ext cx="845343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5325" y="2952750"/>
            <a:ext cx="8548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50193" y="2952750"/>
            <a:ext cx="854868" cy="852487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05062" y="2952750"/>
            <a:ext cx="8548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59931" y="2952750"/>
            <a:ext cx="845343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5325" y="3805237"/>
            <a:ext cx="8548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550193" y="3805237"/>
            <a:ext cx="8548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05062" y="3805237"/>
            <a:ext cx="854868" cy="852487"/>
          </a:xfrm>
          <a:prstGeom prst="rect">
            <a:avLst/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259931" y="3805237"/>
            <a:ext cx="845343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95325" y="4657725"/>
            <a:ext cx="8548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550193" y="4657725"/>
            <a:ext cx="8548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405062" y="4657725"/>
            <a:ext cx="854868" cy="8524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259931" y="4657725"/>
            <a:ext cx="845343" cy="852487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33900" y="3048000"/>
            <a:ext cx="28575" cy="400050"/>
          </a:xfrm>
          <a:prstGeom prst="rect">
            <a:avLst/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33900" y="3600450"/>
            <a:ext cx="28575" cy="400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33900" y="4152900"/>
            <a:ext cx="28575" cy="40957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95325" y="2943225"/>
            <a:ext cx="8548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540668" y="2100262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550193" y="2943225"/>
            <a:ext cx="8548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395537" y="2100262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405062" y="2943225"/>
            <a:ext cx="8548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250406" y="2100262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259931" y="2943225"/>
            <a:ext cx="845343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95325" y="3795712"/>
            <a:ext cx="8548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540668" y="2952750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550193" y="3795712"/>
            <a:ext cx="8548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395537" y="2952750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405062" y="3795712"/>
            <a:ext cx="8548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250406" y="2952750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3259931" y="3795712"/>
            <a:ext cx="845343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95325" y="4648200"/>
            <a:ext cx="8548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540668" y="3805237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550193" y="4648200"/>
            <a:ext cx="8548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2395537" y="3805237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405062" y="4648200"/>
            <a:ext cx="854868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3250406" y="3805237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259931" y="4648200"/>
            <a:ext cx="845343" cy="9525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540668" y="4657725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395537" y="4657725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3250406" y="4657725"/>
            <a:ext cx="9525" cy="852487"/>
          </a:xfrm>
          <a:prstGeom prst="rect">
            <a:avLst/>
          </a:prstGeom>
          <a:solidFill>
            <a:srgbClr val="D4D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3 • GLOBAL SOLUTION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Optimal Directional Policy π*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14875" y="3048000"/>
            <a:ext cx="74771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9090B"/>
                </a:solidFill>
                <a:latin typeface="Plus Jakarta Sans"/>
              </a:rPr>
              <a:t>Bypass Hazard Corridors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14875" y="3276600"/>
            <a:ext cx="7477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Trajectories route safely around holes at 5 and 10 using perimeter channels.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14875" y="3600450"/>
            <a:ext cx="74771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9090B"/>
                </a:solidFill>
                <a:latin typeface="Plus Jakarta Sans"/>
              </a:rPr>
              <a:t>Shortest Path Alignment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14875" y="3829050"/>
            <a:ext cx="74771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Upper states navigate 0 → 1 → 2 → 3 → 7 → 11 → 15 to minimize the −0.01 step cost.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14875" y="4152900"/>
            <a:ext cx="7477125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9090B"/>
                </a:solidFill>
                <a:latin typeface="Plus Jakarta Sans"/>
              </a:rPr>
              <a:t>Unconditional Stability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14875" y="4381500"/>
            <a:ext cx="74771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Evaluating π₂ yields identical greedy actions: π₃ = π₂.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3696" y="2312193"/>
            <a:ext cx="5143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2271" y="2607468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71717A"/>
                </a:solidFill>
                <a:latin typeface="JetBrains Mono"/>
              </a:rPr>
              <a:t>s=0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58565" y="2312193"/>
            <a:ext cx="5143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→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887140" y="2607468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71717A"/>
                </a:solidFill>
                <a:latin typeface="JetBrains Mono"/>
              </a:rPr>
              <a:t>s=1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13434" y="2312193"/>
            <a:ext cx="208390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N" sz="1800" b="1" i="0" u="none" dirty="0">
                <a:solidFill>
                  <a:srgbClr val="2563EB"/>
                </a:solidFill>
                <a:latin typeface="Plus Jakarta Sans"/>
              </a:rPr>
              <a:t>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742009" y="2607468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71717A"/>
                </a:solidFill>
                <a:latin typeface="JetBrains Mono"/>
              </a:rPr>
              <a:t>s=2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01640" y="2316956"/>
            <a:ext cx="4476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>
                <a:solidFill>
                  <a:srgbClr val="2563EB"/>
                </a:solidFill>
                <a:latin typeface="Plus Jakarta Sans"/>
              </a:rPr>
              <a:t>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596878" y="2602706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71717A"/>
                </a:solidFill>
                <a:latin typeface="JetBrains Mono"/>
              </a:rPr>
              <a:t>s=3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37034" y="3169443"/>
            <a:ext cx="4476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↓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2271" y="3455193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71717A"/>
                </a:solidFill>
                <a:latin typeface="JetBrains Mono"/>
              </a:rPr>
              <a:t>s=4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896665" y="3178968"/>
            <a:ext cx="4381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DC2626"/>
                </a:solidFill>
                <a:latin typeface="Plus Jakarta Sans"/>
              </a:rPr>
              <a:t>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887140" y="3445668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991B1B"/>
                </a:solidFill>
                <a:latin typeface="JetBrains Mono"/>
              </a:rPr>
              <a:t>s=5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13434" y="3164681"/>
            <a:ext cx="5143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→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742009" y="3459956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71717A"/>
                </a:solidFill>
                <a:latin typeface="JetBrains Mono"/>
              </a:rPr>
              <a:t>s=6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601640" y="3169443"/>
            <a:ext cx="4476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↓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96878" y="3455193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71717A"/>
                </a:solidFill>
                <a:latin typeface="JetBrains Mono"/>
              </a:rPr>
              <a:t>s=7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7034" y="4021931"/>
            <a:ext cx="4476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2271" y="4307681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71717A"/>
                </a:solidFill>
                <a:latin typeface="JetBrains Mono"/>
              </a:rPr>
              <a:t>s=8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91903" y="4021931"/>
            <a:ext cx="4476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↓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87140" y="4307681"/>
            <a:ext cx="4572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71717A"/>
                </a:solidFill>
                <a:latin typeface="JetBrains Mono"/>
              </a:rPr>
              <a:t>s=9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751534" y="4031456"/>
            <a:ext cx="4381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DC2626"/>
                </a:solidFill>
                <a:latin typeface="Plus Jakarta Sans"/>
              </a:rPr>
              <a:t>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713434" y="4298156"/>
            <a:ext cx="5143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991B1B"/>
                </a:solidFill>
                <a:latin typeface="JetBrains Mono"/>
              </a:rPr>
              <a:t>s=10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01640" y="4021931"/>
            <a:ext cx="4476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68303" y="4307681"/>
            <a:ext cx="5143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71717A"/>
                </a:solidFill>
                <a:latin typeface="JetBrains Mono"/>
              </a:rPr>
              <a:t>s=11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3696" y="4874418"/>
            <a:ext cx="5143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→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3696" y="5169693"/>
            <a:ext cx="5143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71717A"/>
                </a:solidFill>
                <a:latin typeface="JetBrains Mono"/>
              </a:rPr>
              <a:t>s=12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58565" y="4874418"/>
            <a:ext cx="5143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→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858565" y="5169693"/>
            <a:ext cx="5143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71717A"/>
                </a:solidFill>
                <a:latin typeface="JetBrains Mono"/>
              </a:rPr>
              <a:t>s=13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13434" y="4874418"/>
            <a:ext cx="514350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563EB"/>
                </a:solidFill>
                <a:latin typeface="Plus Jakarta Sans"/>
              </a:rPr>
              <a:t>→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13434" y="5169693"/>
            <a:ext cx="5143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71717A"/>
                </a:solidFill>
                <a:latin typeface="JetBrains Mono"/>
              </a:rPr>
              <a:t>s=14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96878" y="4888706"/>
            <a:ext cx="4572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6A34A"/>
                </a:solidFill>
                <a:latin typeface="Plus Jakarta Sans"/>
              </a:rPr>
              <a:t>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68303" y="5155406"/>
            <a:ext cx="5143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750" b="0" i="0" u="none">
                <a:solidFill>
                  <a:srgbClr val="15803D"/>
                </a:solidFill>
                <a:latin typeface="JetBrains Mono"/>
              </a:rPr>
              <a:t>s=15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09332" y="2609850"/>
            <a:ext cx="5896867" cy="2390775"/>
          </a:xfrm>
          <a:prstGeom prst="roundRect">
            <a:avLst>
              <a:gd name="adj" fmla="val 3187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2764184"/>
            <a:ext cx="4580632" cy="929431"/>
          </a:xfrm>
          <a:prstGeom prst="roundRect">
            <a:avLst>
              <a:gd name="adj" fmla="val 8198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3846016"/>
            <a:ext cx="4580632" cy="1000125"/>
          </a:xfrm>
          <a:prstGeom prst="roundRect">
            <a:avLst>
              <a:gd name="adj" fmla="val 7619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941" y="3192809"/>
            <a:ext cx="4032349" cy="3007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3 • OPTIMALITY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Value Iteration: Bellman Optimality Sweeps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9357" y="2809875"/>
            <a:ext cx="638264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9090B"/>
                </a:solidFill>
                <a:latin typeface="Plus Jakarta Sans"/>
              </a:rPr>
              <a:t>Propagation Progression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2964209"/>
            <a:ext cx="522572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71717A"/>
                </a:solidFill>
                <a:latin typeface="JetBrains Mono"/>
              </a:rPr>
              <a:t>OPTIMALITY UPDATE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4026991"/>
            <a:ext cx="553702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090B"/>
                </a:solidFill>
                <a:latin typeface="Plus Jakarta Sans"/>
              </a:rPr>
              <a:t>Convergence in 7 Sweeps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265116"/>
            <a:ext cx="431393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Because moves are deterministic, the +1.0 goal reward propagates backward across the 6-step diameter in exactly 7 sweeps.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09357" y="3105150"/>
            <a:ext cx="819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JetBrains Mono"/>
              </a:rPr>
              <a:t>Sweep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05975" y="3105150"/>
            <a:ext cx="20002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9090B"/>
                </a:solidFill>
                <a:latin typeface="JetBrains Mono"/>
              </a:rPr>
              <a:t>V(11) = V(14) = 1.000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9357" y="3409950"/>
            <a:ext cx="819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JetBrains Mono"/>
              </a:rPr>
              <a:t>Sweep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2175" y="3409950"/>
            <a:ext cx="19050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9090B"/>
                </a:solidFill>
                <a:latin typeface="JetBrains Mono"/>
              </a:rPr>
              <a:t>V(7) = V(13) = 0.890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9357" y="3714750"/>
            <a:ext cx="819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JetBrains Mono"/>
              </a:rPr>
              <a:t>Sweep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15375" y="3714750"/>
            <a:ext cx="3238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9090B"/>
                </a:solidFill>
                <a:latin typeface="JetBrains Mono"/>
              </a:rPr>
              <a:t>V(3) = V(6) = V(9) = V(12) = 0.791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9357" y="4019550"/>
            <a:ext cx="819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JetBrains Mono"/>
              </a:rPr>
              <a:t>Sweep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8375" y="4019550"/>
            <a:ext cx="1809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9090B"/>
                </a:solidFill>
                <a:latin typeface="JetBrains Mono"/>
              </a:rPr>
              <a:t>V(2) = V(8) = 0.702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9357" y="4324350"/>
            <a:ext cx="8191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JetBrains Mono"/>
              </a:rPr>
              <a:t>Sweep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58375" y="4324350"/>
            <a:ext cx="180975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09090B"/>
                </a:solidFill>
                <a:latin typeface="JetBrains Mono"/>
              </a:rPr>
              <a:t>V(1) = V(4) = 0.622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9357" y="4629150"/>
            <a:ext cx="13525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Sweep 7 (Stop)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4646" y="4629150"/>
            <a:ext cx="278941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V(0) = 0.550 (||ΔV||_∞ &lt; 10⁻⁵)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465189"/>
            <a:ext cx="3528119" cy="2718196"/>
          </a:xfrm>
          <a:prstGeom prst="roundRect">
            <a:avLst>
              <a:gd name="adj" fmla="val 2803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80619" y="2465189"/>
            <a:ext cx="3528119" cy="2718196"/>
          </a:xfrm>
          <a:prstGeom prst="roundRect">
            <a:avLst>
              <a:gd name="adj" fmla="val 2803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75439" y="2986087"/>
            <a:ext cx="3230612" cy="1676400"/>
          </a:xfrm>
          <a:prstGeom prst="roundRect">
            <a:avLst>
              <a:gd name="adj" fmla="val 4545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62025" y="3093839"/>
            <a:ext cx="2975669" cy="1489471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756844" y="3093839"/>
            <a:ext cx="2975669" cy="1489471"/>
          </a:xfrm>
          <a:prstGeom prst="roundRect">
            <a:avLst>
              <a:gd name="adj" fmla="val 3836"/>
            </a:avLst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9220" y="3262312"/>
            <a:ext cx="3429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3 • ALGORITHM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Policy Iteration vs. Value Iteration: Complete Parity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2731889"/>
            <a:ext cx="3089969" cy="2184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9090B"/>
                </a:solidFill>
                <a:latin typeface="Plus Jakarta Sans"/>
              </a:rPr>
              <a:t>Policy Iteration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47319" y="2731889"/>
            <a:ext cx="3089969" cy="21847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Plus Jakarta Sans"/>
              </a:rPr>
              <a:t>Value Iteration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466" y="3246239"/>
            <a:ext cx="3414786" cy="1184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95"/>
              </a:lnSpc>
            </a:pPr>
            <a:r>
              <a:rPr sz="1350" b="0" i="0" u="none">
                <a:solidFill>
                  <a:srgbClr val="09090B"/>
                </a:solidFill>
                <a:latin typeface="JetBrains Mono"/>
              </a:rPr>
              <a:t>→ → → ↓</a:t>
            </a:r>
            <a:r>
              <a:t>
</a:t>
            </a:r>
            <a:r>
              <a:rPr sz="1350" b="0" i="0" u="none">
                <a:solidFill>
                  <a:srgbClr val="09090B"/>
                </a:solidFill>
                <a:latin typeface="JetBrains Mono"/>
              </a:rPr>
              <a:t> ↓ </a:t>
            </a:r>
            <a:r>
              <a:rPr sz="1350" b="1" i="0" u="none">
                <a:solidFill>
                  <a:srgbClr val="DC2626"/>
                </a:solidFill>
                <a:latin typeface="JetBrains Mono"/>
              </a:rPr>
              <a:t>H</a:t>
            </a:r>
            <a:r>
              <a:rPr sz="1350" b="0" i="0" u="none">
                <a:solidFill>
                  <a:srgbClr val="09090B"/>
                </a:solidFill>
                <a:latin typeface="JetBrains Mono"/>
              </a:rPr>
              <a:t> → ↓</a:t>
            </a:r>
            <a:r>
              <a:t>
</a:t>
            </a:r>
            <a:r>
              <a:rPr sz="1350" b="0" i="0" u="none">
                <a:solidFill>
                  <a:srgbClr val="09090B"/>
                </a:solidFill>
                <a:latin typeface="JetBrains Mono"/>
              </a:rPr>
              <a:t> ↓ ↓ </a:t>
            </a:r>
            <a:r>
              <a:rPr sz="1350" b="1" i="0" u="none">
                <a:solidFill>
                  <a:srgbClr val="DC2626"/>
                </a:solidFill>
                <a:latin typeface="JetBrains Mono"/>
              </a:rPr>
              <a:t>H</a:t>
            </a:r>
            <a:r>
              <a:rPr sz="1350" b="0" i="0" u="none">
                <a:solidFill>
                  <a:srgbClr val="09090B"/>
                </a:solidFill>
                <a:latin typeface="JetBrains Mono"/>
              </a:rPr>
              <a:t> ↓</a:t>
            </a:r>
            <a:r>
              <a:t>
</a:t>
            </a:r>
            <a:r>
              <a:rPr sz="1350" b="0" i="0" u="none">
                <a:solidFill>
                  <a:srgbClr val="09090B"/>
                </a:solidFill>
                <a:latin typeface="JetBrains Mono"/>
              </a:rPr>
              <a:t> → → → </a:t>
            </a:r>
            <a:r>
              <a:rPr sz="1350" b="1" i="0" u="none">
                <a:solidFill>
                  <a:srgbClr val="16A34A"/>
                </a:solidFill>
                <a:latin typeface="JetBrains Mono"/>
              </a:rPr>
              <a:t>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4735710"/>
            <a:ext cx="371958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2 policy changes + 1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7285" y="3246239"/>
            <a:ext cx="3414786" cy="1184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95"/>
              </a:lnSpc>
            </a:pPr>
            <a:r>
              <a:rPr sz="1350" b="0" i="0" u="none">
                <a:solidFill>
                  <a:srgbClr val="09090B"/>
                </a:solidFill>
                <a:latin typeface="JetBrains Mono"/>
              </a:rPr>
              <a:t>→ → → ↓</a:t>
            </a:r>
            <a:r>
              <a:t>
</a:t>
            </a:r>
            <a:r>
              <a:rPr sz="1350" b="0" i="0" u="none">
                <a:solidFill>
                  <a:srgbClr val="09090B"/>
                </a:solidFill>
                <a:latin typeface="JetBrains Mono"/>
              </a:rPr>
              <a:t> ↓ </a:t>
            </a:r>
            <a:r>
              <a:rPr sz="1350" b="1" i="0" u="none">
                <a:solidFill>
                  <a:srgbClr val="DC2626"/>
                </a:solidFill>
                <a:latin typeface="JetBrains Mono"/>
              </a:rPr>
              <a:t>H</a:t>
            </a:r>
            <a:r>
              <a:rPr sz="1350" b="0" i="0" u="none">
                <a:solidFill>
                  <a:srgbClr val="09090B"/>
                </a:solidFill>
                <a:latin typeface="JetBrains Mono"/>
              </a:rPr>
              <a:t> → ↓</a:t>
            </a:r>
            <a:r>
              <a:t>
</a:t>
            </a:r>
            <a:r>
              <a:rPr sz="1350" b="0" i="0" u="none">
                <a:solidFill>
                  <a:srgbClr val="09090B"/>
                </a:solidFill>
                <a:latin typeface="JetBrains Mono"/>
              </a:rPr>
              <a:t> ↓ ↓ </a:t>
            </a:r>
            <a:r>
              <a:rPr sz="1350" b="1" i="0" u="none">
                <a:solidFill>
                  <a:srgbClr val="DC2626"/>
                </a:solidFill>
                <a:latin typeface="JetBrains Mono"/>
              </a:rPr>
              <a:t>H</a:t>
            </a:r>
            <a:r>
              <a:rPr sz="1350" b="0" i="0" u="none">
                <a:solidFill>
                  <a:srgbClr val="09090B"/>
                </a:solidFill>
                <a:latin typeface="JetBrains Mono"/>
              </a:rPr>
              <a:t> ↓</a:t>
            </a:r>
            <a:r>
              <a:t>
</a:t>
            </a:r>
            <a:r>
              <a:rPr sz="1350" b="0" i="0" u="none">
                <a:solidFill>
                  <a:srgbClr val="09090B"/>
                </a:solidFill>
                <a:latin typeface="JetBrains Mono"/>
              </a:rPr>
              <a:t> → → → </a:t>
            </a:r>
            <a:r>
              <a:rPr sz="1350" b="1" i="0" u="none">
                <a:solidFill>
                  <a:srgbClr val="16A34A"/>
                </a:solidFill>
                <a:latin typeface="JetBrains Mono"/>
              </a:rPr>
              <a:t>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6844" y="4735710"/>
            <a:ext cx="371958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7 Bellman optimality sweeps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3201" y="3719512"/>
            <a:ext cx="35150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E40AF"/>
                </a:solidFill>
                <a:latin typeface="Plus Jakarta Sans"/>
              </a:rPr>
              <a:t>MATCH CONFIRMED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6893" y="4014787"/>
            <a:ext cx="3347702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sz="975" b="0" i="0" u="none">
                <a:solidFill>
                  <a:srgbClr val="1E3A8A"/>
                </a:solidFill>
                <a:latin typeface="Plus Jakarta Sans"/>
              </a:rPr>
              <a:t>Both algorithms converge to the exact identical global policy π*.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768054"/>
            <a:ext cx="5276850" cy="2112466"/>
          </a:xfrm>
          <a:prstGeom prst="roundRect">
            <a:avLst>
              <a:gd name="adj" fmla="val 3607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907208"/>
            <a:ext cx="5276850" cy="1834157"/>
          </a:xfrm>
          <a:prstGeom prst="roundRect">
            <a:avLst>
              <a:gd name="adj" fmla="val 4154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62025" y="3928020"/>
            <a:ext cx="4724400" cy="409575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9525">
            <a:solidFill>
              <a:srgbClr val="D4D4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3 • MATHEMATICAL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Contraction Mappings &amp; Why Iteration Counts Differ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044279"/>
            <a:ext cx="62007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γ-Contraction Guarantee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387179"/>
            <a:ext cx="48196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Both Bellman expectation (T^π) and optimality (T*) operators are contractions under infinity norm: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5775" y="4042320"/>
            <a:ext cx="567690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09090B"/>
                </a:solidFill>
                <a:latin typeface="JetBrains Mono"/>
              </a:rPr>
              <a:t>||T V − T W||_∞ ≤ γ ||V − W||_∞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2025" y="4451895"/>
            <a:ext cx="5905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71717A"/>
                </a:solidFill>
                <a:latin typeface="Plus Jakarta Sans"/>
              </a:rPr>
              <a:t>Guarantees existence of a unique fixed point V* regardless of initialization.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3183433"/>
            <a:ext cx="56864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Discrete Policy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5575" y="3516808"/>
            <a:ext cx="48196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Policy iteration changes actions across multiple states simultaneously in discrete jumps over the finite set |A|^|S| = 4¹³.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5575" y="4038600"/>
            <a:ext cx="48196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Value iteration updates continuous value estimates directly, propagating payoffs across the grid diameter in 7 sweeps.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00700" y="2902297"/>
            <a:ext cx="5905500" cy="1805731"/>
          </a:xfrm>
          <a:prstGeom prst="roundRect">
            <a:avLst>
              <a:gd name="adj" fmla="val 4219"/>
            </a:avLst>
          </a:prstGeom>
          <a:solidFill>
            <a:srgbClr val="090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2837259"/>
            <a:ext cx="4572000" cy="811857"/>
          </a:xfrm>
          <a:prstGeom prst="roundRect">
            <a:avLst>
              <a:gd name="adj" fmla="val 9385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3801516"/>
            <a:ext cx="4572000" cy="971550"/>
          </a:xfrm>
          <a:prstGeom prst="roundRect">
            <a:avLst>
              <a:gd name="adj" fmla="val 784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339" y="3265884"/>
            <a:ext cx="3362920" cy="1832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4 • CLOSED-FORM LINEAR ALGEBRA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Exact Evaluation via Matrix Inversion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0" y="3111847"/>
            <a:ext cx="5581650" cy="1386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sz="975" b="0" i="0" u="none">
                <a:solidFill>
                  <a:srgbClr val="71717A"/>
                </a:solidFill>
                <a:latin typeface="JetBrains Mono"/>
              </a:rPr>
              <a:t># Build 13x13 transition matrix for non-terminal states</a:t>
            </a:r>
            <a:r>
              <a:t>
</a:t>
            </a:r>
            <a:r>
              <a:rPr sz="975" b="0" i="0" u="none">
                <a:solidFill>
                  <a:srgbClr val="FAFAFA"/>
                </a:solidFill>
                <a:latin typeface="JetBrains Mono"/>
              </a:rPr>
              <a:t> P_pi = 0.25 * (P_L + P_D + P_R + P_U)</a:t>
            </a:r>
            <a:r>
              <a:t>
</a:t>
            </a:r>
            <a:r>
              <a:rPr sz="975" b="0" i="0" u="none">
                <a:solidFill>
                  <a:srgbClr val="FAFAFA"/>
                </a:solidFill>
                <a:latin typeface="JetBrains Mono"/>
              </a:rPr>
              <a:t> R_pi = 0.25 * (R_L + R_D + R_R + R_U)</a:t>
            </a:r>
            <a:r>
              <a:t>
</a:t>
            </a:r>
            <a:r>
              <a:rPr sz="975" b="0" i="0" u="none">
                <a:solidFill>
                  <a:srgbClr val="71717A"/>
                </a:solidFill>
                <a:latin typeface="JetBrains Mono"/>
              </a:rPr>
              <a:t># Solve linear system directly: (I - gamma * P_pi) * V = R_pi</a:t>
            </a:r>
            <a:r>
              <a:t>
</a:t>
            </a:r>
            <a:r>
              <a:rPr sz="975" b="0" i="0" u="none">
                <a:solidFill>
                  <a:srgbClr val="FAFAFA"/>
                </a:solidFill>
                <a:latin typeface="JetBrains Mono"/>
              </a:rPr>
              <a:t> A = np.eye(13) - 0.9 * P_pi</a:t>
            </a:r>
            <a:r>
              <a:t>
</a:t>
            </a:r>
            <a:r>
              <a:rPr sz="975" b="0" i="0" u="none">
                <a:solidFill>
                  <a:srgbClr val="FAFAFA"/>
                </a:solidFill>
                <a:latin typeface="JetBrains Mono"/>
              </a:rPr>
              <a:t> V_exact = np.linalg.solve(A, R_pi)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037284"/>
            <a:ext cx="5214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71717A"/>
                </a:solidFill>
                <a:latin typeface="JetBrains Mono"/>
              </a:rPr>
              <a:t>LINEAR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982491"/>
            <a:ext cx="552569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4ED8"/>
                </a:solidFill>
                <a:latin typeface="Plus Jakarta Sans"/>
              </a:rPr>
              <a:t>Numerical Residual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4201566"/>
            <a:ext cx="5262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1E40AF"/>
                </a:solidFill>
                <a:latin typeface="JetBrains Mono"/>
              </a:rPr>
              <a:t>max |V_exact − V_iterative| = 3.074 × 10⁻⁵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775" y="4420641"/>
            <a:ext cx="52625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1E3A8A"/>
                </a:solidFill>
                <a:latin typeface="Plus Jakarta Sans"/>
              </a:rPr>
              <a:t>Residual stems solely from truncating the iterative solver at ε = 10⁻⁵.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848123"/>
            <a:ext cx="5276850" cy="1952178"/>
          </a:xfrm>
          <a:prstGeom prst="roundRect">
            <a:avLst>
              <a:gd name="adj" fmla="val 3903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848123"/>
            <a:ext cx="5276850" cy="1952178"/>
          </a:xfrm>
          <a:prstGeom prst="roundRect">
            <a:avLst>
              <a:gd name="adj" fmla="val 3903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4 • SCALABILITY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Why Matrix Inversion Fails to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124348"/>
            <a:ext cx="6200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Linear Algebra Bottlenecks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457723"/>
            <a:ext cx="4819650" cy="1066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52525B"/>
                </a:solidFill>
                <a:latin typeface="Plus Jakarta Sans"/>
              </a:rPr>
              <a:t>O(N²) Space:</a:t>
            </a:r>
            <a:r>
              <a:rPr sz="1050" b="0" i="0" u="none">
                <a:solidFill>
                  <a:srgbClr val="52525B"/>
                </a:solidFill>
                <a:latin typeface="Plus Jakarta Sans"/>
              </a:rPr>
              <a:t> An N-state environment requires an N×N matrix. For 10⁶ states, this exceeds 8 terabytes of memory.</a:t>
            </a:r>
            <a:r>
              <a:t>
</a:t>
            </a:r>
            <a:r>
              <a:rPr sz="1050" b="0" i="0" u="none">
                <a:solidFill>
                  <a:srgbClr val="52525B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52525B"/>
                </a:solidFill>
                <a:latin typeface="Plus Jakarta Sans"/>
              </a:rPr>
              <a:t>O(N³) Time:</a:t>
            </a:r>
            <a:r>
              <a:rPr sz="1050" b="0" i="0" u="none">
                <a:solidFill>
                  <a:srgbClr val="52525B"/>
                </a:solidFill>
                <a:latin typeface="Plus Jakarta Sans"/>
              </a:rPr>
              <a:t> Gaussian elimination requires cubic operations (~10¹⁸ flops), making direct inversion intractable.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5575" y="3124348"/>
            <a:ext cx="56864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4ED8"/>
                </a:solidFill>
                <a:latin typeface="Plus Jakarta Sans"/>
              </a:rPr>
              <a:t>The Reinforcement Learning Remedy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575" y="3457723"/>
            <a:ext cx="4819650" cy="10663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1E40AF"/>
                </a:solidFill>
                <a:latin typeface="Plus Jakarta Sans"/>
              </a:rPr>
              <a:t>• </a:t>
            </a:r>
            <a:r>
              <a:rPr sz="1050" b="1" i="0" u="none">
                <a:solidFill>
                  <a:srgbClr val="1E40AF"/>
                </a:solidFill>
                <a:latin typeface="Plus Jakarta Sans"/>
              </a:rPr>
              <a:t>Local Bellman Updates:</a:t>
            </a:r>
            <a:r>
              <a:rPr sz="1050" b="0" i="0" u="none">
                <a:solidFill>
                  <a:srgbClr val="1E40AF"/>
                </a:solidFill>
                <a:latin typeface="Plus Jakarta Sans"/>
              </a:rPr>
              <a:t> Uses local neighborhood transitions without constructing the global transition matrix.</a:t>
            </a:r>
            <a:r>
              <a:t>
</a:t>
            </a:r>
            <a:r>
              <a:rPr sz="1050" b="0" i="0" u="none">
                <a:solidFill>
                  <a:srgbClr val="1E40AF"/>
                </a:solidFill>
                <a:latin typeface="Plus Jakarta Sans"/>
              </a:rPr>
              <a:t> • </a:t>
            </a:r>
            <a:r>
              <a:rPr sz="1050" b="1" i="0" u="none">
                <a:solidFill>
                  <a:srgbClr val="1E40AF"/>
                </a:solidFill>
                <a:latin typeface="Plus Jakarta Sans"/>
              </a:rPr>
              <a:t>Sampling &amp; Approximation:</a:t>
            </a:r>
            <a:r>
              <a:rPr sz="1050" b="0" i="0" u="none">
                <a:solidFill>
                  <a:srgbClr val="1E40AF"/>
                </a:solidFill>
                <a:latin typeface="Plus Jakarta Sans"/>
              </a:rPr>
              <a:t> Exploits experience trajectories and neural value estimators to scale to infinite state spaces.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998940" y="3148012"/>
            <a:ext cx="4507259" cy="1352550"/>
          </a:xfrm>
          <a:prstGeom prst="roundRect">
            <a:avLst>
              <a:gd name="adj" fmla="val 5633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1603384"/>
              </p:ext>
            </p:extLst>
          </p:nvPr>
        </p:nvGraphicFramePr>
        <p:xfrm>
          <a:off x="685800" y="2890837"/>
          <a:ext cx="6046439" cy="1866900"/>
        </p:xfrm>
        <a:graphic>
          <a:graphicData uri="http://schemas.openxmlformats.org/drawingml/2006/table">
            <a:tbl>
              <a:tblPr/>
              <a:tblGrid>
                <a:gridCol w="1903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9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9090B"/>
                          </a:solidFill>
                          <a:latin typeface="Plus Jakarta Sans"/>
                        </a:rPr>
                        <a:t>Discount Rate (γ)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09090B"/>
                          </a:solidFill>
                          <a:latin typeface="Plus Jakarta Sans"/>
                        </a:rPr>
                        <a:t>Convergence Sweeps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9090B"/>
                          </a:solidFill>
                          <a:latin typeface="Plus Jakarta Sans"/>
                        </a:rPr>
                        <a:t>Policy Impact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γ = 0.000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u="none" dirty="0">
                          <a:solidFill>
                            <a:srgbClr val="09090B"/>
                          </a:solidFill>
                          <a:latin typeface="JetBrains Mono"/>
                        </a:rPr>
                        <a:t>2</a:t>
                      </a:r>
                      <a:r>
                        <a:rPr sz="1050" b="0" i="0" u="none" dirty="0">
                          <a:solidFill>
                            <a:srgbClr val="09090B"/>
                          </a:solidFill>
                          <a:latin typeface="JetBrains Mono"/>
                        </a:rPr>
                        <a:t> sweep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52525B"/>
                          </a:solidFill>
                          <a:latin typeface="Plus Jakarta Sans"/>
                        </a:rPr>
                        <a:t>Myopic: ignores future payoffs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γ = 0.500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u="none" dirty="0">
                          <a:solidFill>
                            <a:srgbClr val="09090B"/>
                          </a:solidFill>
                          <a:latin typeface="JetBrains Mono"/>
                        </a:rPr>
                        <a:t>7</a:t>
                      </a:r>
                      <a:r>
                        <a:rPr sz="1050" b="0" i="0" u="none" dirty="0">
                          <a:solidFill>
                            <a:srgbClr val="09090B"/>
                          </a:solidFill>
                          <a:latin typeface="JetBrains Mono"/>
                        </a:rPr>
                        <a:t> sweeps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Identical optimal policy π*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γ = 0.900 (Baseline)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 u="none">
                          <a:solidFill>
                            <a:srgbClr val="2563EB"/>
                          </a:solidFill>
                          <a:latin typeface="JetBrains Mono"/>
                        </a:rPr>
                        <a:t>7 sweeps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6A34A"/>
                          </a:solidFill>
                          <a:latin typeface="Plus Jakarta Sans"/>
                        </a:rPr>
                        <a:t>Identical optimal policy π*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09090B"/>
                          </a:solidFill>
                          <a:latin typeface="JetBrains Mono"/>
                        </a:rPr>
                        <a:t>γ = 0.999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 u="none">
                          <a:solidFill>
                            <a:srgbClr val="09090B"/>
                          </a:solidFill>
                          <a:latin typeface="JetBrains Mono"/>
                        </a:rPr>
                        <a:t>18 sweeps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 dirty="0">
                          <a:solidFill>
                            <a:srgbClr val="16A34A"/>
                          </a:solidFill>
                          <a:latin typeface="Plus Jakarta Sans"/>
                        </a:rPr>
                        <a:t>Identical optimal policy π*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5 • HYPERPARAMETER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Impact of Discount Factor γ on Convergence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7065" y="3386137"/>
            <a:ext cx="495493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9090B"/>
                </a:solidFill>
                <a:latin typeface="Plus Jakarta Sans"/>
              </a:rPr>
              <a:t>Analytical Takeaway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7065" y="3662362"/>
            <a:ext cx="412625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Higher γ values preserve distant future rewards but degrade the geometric contraction rate γ, requiring progressively more value sweeps to reach fixed precision.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080444"/>
            <a:ext cx="3429000" cy="1487537"/>
          </a:xfrm>
          <a:prstGeom prst="roundRect">
            <a:avLst>
              <a:gd name="adj" fmla="val 5122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81500" y="3080444"/>
            <a:ext cx="3429000" cy="1487537"/>
          </a:xfrm>
          <a:prstGeom prst="roundRect">
            <a:avLst>
              <a:gd name="adj" fmla="val 5122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80444"/>
            <a:ext cx="3429000" cy="1487537"/>
          </a:xfrm>
          <a:prstGeom prst="roundRect">
            <a:avLst>
              <a:gd name="adj" fmla="val 5122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5 • REWARD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Living Step Penalty: −0.01 vs. 0.00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356669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Original: R_{step} = −0.01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651944"/>
            <a:ext cx="297180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Penalizes wandering steps. Forces optimal trajectories to actively prioritize shorter, time-efficient corridors toward the goal.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356669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Modified: R_{step} = 0.00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651944"/>
            <a:ext cx="297180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Eliminates step cost. State values increase uniformly because prolonged transit incurs zero direct penalty.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356669"/>
            <a:ext cx="377547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4ED8"/>
                </a:solidFill>
                <a:latin typeface="Plus Jakarta Sans"/>
              </a:rPr>
              <a:t>Grid Invariance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651944"/>
            <a:ext cx="2971800" cy="639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1E3A8A"/>
                </a:solidFill>
                <a:latin typeface="Plus Jakarta Sans"/>
              </a:rPr>
              <a:t>Because holes carry a severe −1.0 penalty and the goal delivers +1.0, the greedy policy remains </a:t>
            </a:r>
            <a:r>
              <a:rPr sz="1050" b="1" i="0" u="none">
                <a:solidFill>
                  <a:srgbClr val="1E3A8A"/>
                </a:solidFill>
                <a:latin typeface="Plus Jakarta Sans"/>
              </a:rPr>
              <a:t>completely unchanged</a:t>
            </a:r>
            <a:r>
              <a:rPr sz="1050" b="0" i="0" u="none">
                <a:solidFill>
                  <a:srgbClr val="1E3A8A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3168104"/>
            <a:ext cx="5276850" cy="1312366"/>
          </a:xfrm>
          <a:prstGeom prst="roundRect">
            <a:avLst>
              <a:gd name="adj" fmla="val 5806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910929"/>
            <a:ext cx="5276850" cy="1826716"/>
          </a:xfrm>
          <a:prstGeom prst="roundRect">
            <a:avLst>
              <a:gd name="adj" fmla="val 417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505575" y="4061370"/>
            <a:ext cx="472440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85800" y="4572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PART 5 • GENERALIZATION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57225"/>
            <a:ext cx="1150620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09090B"/>
                </a:solidFill>
                <a:latin typeface="Plus Jakarta Sans"/>
              </a:rPr>
              <a:t>When Transitions P and Rewards R Are Unknown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444329"/>
            <a:ext cx="62007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9090B"/>
                </a:solidFill>
                <a:latin typeface="Plus Jakarta Sans"/>
              </a:rPr>
              <a:t>Model-Based Dynamic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3777704"/>
            <a:ext cx="48196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52525B"/>
                </a:solidFill>
                <a:latin typeface="Plus Jakarta Sans"/>
              </a:rPr>
              <a:t>Assumes perfect knowledge of P(s'|s, a) and R(s, a). Computes expectations analytically over all possible transitions.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5575" y="3187154"/>
            <a:ext cx="568642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4ED8"/>
                </a:solidFill>
                <a:latin typeface="Plus Jakarta Sans"/>
              </a:rPr>
              <a:t>Model-Free Learning (e.g., Q-Learning)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5575" y="3520529"/>
            <a:ext cx="4819650" cy="426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1E3A8A"/>
                </a:solidFill>
                <a:latin typeface="Plus Jakarta Sans"/>
              </a:rPr>
              <a:t>Samples interaction experience tuples (s, a, r, s') and executes temporal-difference backups: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29325" y="4175670"/>
            <a:ext cx="5676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1E40AF"/>
                </a:solidFill>
                <a:latin typeface="JetBrains Mono"/>
              </a:rPr>
              <a:t>Q(s, a) ← Q(s, a) + α [r + γ max_a' Q(s', a') − Q(s, a)]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2386012"/>
            <a:ext cx="10820400" cy="3810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2862262"/>
            <a:ext cx="10820400" cy="390525"/>
          </a:xfrm>
          <a:prstGeom prst="roundRect">
            <a:avLst>
              <a:gd name="adj" fmla="val 14634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3348037"/>
            <a:ext cx="10820400" cy="3810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3824287"/>
            <a:ext cx="10820400" cy="3810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4300537"/>
            <a:ext cx="10820400" cy="3810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4776787"/>
            <a:ext cx="10820400" cy="381000"/>
          </a:xfrm>
          <a:prstGeom prst="roundRect">
            <a:avLst>
              <a:gd name="adj" fmla="val 15000"/>
            </a:avLst>
          </a:prstGeom>
          <a:solidFill>
            <a:srgbClr val="FAFAFA"/>
          </a:solidFill>
          <a:ln w="9525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19100"/>
            <a:ext cx="115062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563EB"/>
                </a:solidFill>
                <a:latin typeface="JetBrains Mono"/>
              </a:rPr>
              <a:t>SOFTWARE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0075"/>
            <a:ext cx="115062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9090B"/>
                </a:solidFill>
                <a:latin typeface="Plus Jakarta Sans"/>
              </a:rPr>
              <a:t>Core Implementation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2495550"/>
            <a:ext cx="2619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9090B"/>
                </a:solidFill>
                <a:latin typeface="JetBrains Mono"/>
              </a:rPr>
              <a:t>step(s, 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3225" y="2490787"/>
            <a:ext cx="5345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Executes deterministic directional advance with wall bounce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976562"/>
            <a:ext cx="2619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9090B"/>
                </a:solidFill>
                <a:latin typeface="JetBrains Mono"/>
              </a:rPr>
              <a:t>policy_eval(pi)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3225" y="2967037"/>
            <a:ext cx="582197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Bellman expectation sweeps on non-terminals until ||V_{k+1} − V_k||_∞ &lt; 10⁻⁵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457575"/>
            <a:ext cx="2619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9090B"/>
                </a:solidFill>
                <a:latin typeface="JetBrains Mono"/>
              </a:rPr>
              <a:t>compute_q(V)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43225" y="3452812"/>
            <a:ext cx="5738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Calculates 13×4 state-action values Q(s, a) from current state-value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933825"/>
            <a:ext cx="2619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9090B"/>
                </a:solidFill>
                <a:latin typeface="JetBrains Mono"/>
              </a:rPr>
              <a:t>policy_iteration()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3225" y="3929062"/>
            <a:ext cx="5453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Alternates evaluation and greedy improvement until policy stabilization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410075"/>
            <a:ext cx="2619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9090B"/>
                </a:solidFill>
                <a:latin typeface="JetBrains Mono"/>
              </a:rPr>
              <a:t>value_iteration()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43225" y="4405312"/>
            <a:ext cx="5548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Applies Bellman optimality updates directly to convergence in 7 sweeps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4886325"/>
            <a:ext cx="261937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9090B"/>
                </a:solidFill>
                <a:latin typeface="JetBrains Mono"/>
              </a:rPr>
              <a:t>exact_solve()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3225" y="4881562"/>
            <a:ext cx="511950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2525B"/>
                </a:solidFill>
                <a:latin typeface="Plus Jakarta Sans"/>
              </a:rPr>
              <a:t>Solves (I − γP^π)V^π = R^π via NumPy direct linear system inversion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257675"/>
            <a:ext cx="10668000" cy="695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2000" y="2857500"/>
            <a:ext cx="2524125" cy="1057275"/>
          </a:xfrm>
          <a:prstGeom prst="roundRect">
            <a:avLst>
              <a:gd name="adj" fmla="val 7207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476625" y="2857500"/>
            <a:ext cx="2524125" cy="1057275"/>
          </a:xfrm>
          <a:prstGeom prst="roundRect">
            <a:avLst>
              <a:gd name="adj" fmla="val 7207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857500"/>
            <a:ext cx="2524125" cy="1057275"/>
          </a:xfrm>
          <a:prstGeom prst="roundRect">
            <a:avLst>
              <a:gd name="adj" fmla="val 7207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905875" y="2857500"/>
            <a:ext cx="2524125" cy="1057275"/>
          </a:xfrm>
          <a:prstGeom prst="roundRect">
            <a:avLst>
              <a:gd name="adj" fmla="val 7207"/>
            </a:avLst>
          </a:prstGeom>
          <a:solidFill>
            <a:srgbClr val="18181B"/>
          </a:solidFill>
          <a:ln w="9525">
            <a:solidFill>
              <a:srgbClr val="272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62000" y="4257675"/>
            <a:ext cx="10668000" cy="9525"/>
          </a:xfrm>
          <a:prstGeom prst="rect">
            <a:avLst/>
          </a:prstGeom>
          <a:solidFill>
            <a:srgbClr val="272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-285750" y="1905000"/>
            <a:ext cx="12763500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93C5FD"/>
                </a:solidFill>
                <a:latin typeface="JetBrains Mono"/>
              </a:rPr>
              <a:t>CSL 412 •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285750" y="2124075"/>
            <a:ext cx="127635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700" b="1" i="0" u="none">
                <a:solidFill>
                  <a:srgbClr val="FAFAFA"/>
                </a:solidFill>
                <a:latin typeface="Plus Jakarta Sans"/>
              </a:rPr>
              <a:t>Final Verification &amp; Experimental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034" y="3067050"/>
            <a:ext cx="2736056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FAFAFA"/>
                </a:solidFill>
                <a:latin typeface="Plus Jakarta Sans"/>
              </a:rPr>
              <a:t>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70659" y="3067050"/>
            <a:ext cx="2736056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FAFAFA"/>
                </a:solidFill>
                <a:latin typeface="Plus Jakarta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5284" y="3067050"/>
            <a:ext cx="2736056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FAFAFA"/>
                </a:solidFill>
                <a:latin typeface="Plus Jakarta Sans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9909" y="3067050"/>
            <a:ext cx="2736056" cy="638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u="none">
                <a:solidFill>
                  <a:srgbClr val="93C5FD"/>
                </a:solidFill>
                <a:latin typeface="Plus Jakarta Sans"/>
              </a:rPr>
              <a:t>3.07e-5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5375" y="4495800"/>
            <a:ext cx="100012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125" b="0" i="0" u="none">
                <a:solidFill>
                  <a:srgbClr val="D4D4D8"/>
                </a:solidFill>
                <a:latin typeface="Plus Jakarta Sans"/>
              </a:rPr>
              <a:t>Both Policy Iteration and Value Iteration converge to the identical optimal policy π*, verified through hand calculations on state 6 and closed-form linear algebra.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328" y="3524250"/>
            <a:ext cx="26074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A1A1AA"/>
                </a:solidFill>
                <a:latin typeface="Plus Jakarta Sans"/>
              </a:rPr>
              <a:t>π₀ Eval Sweeps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34953" y="3524250"/>
            <a:ext cx="2607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A1A1AA"/>
                </a:solidFill>
                <a:latin typeface="Plus Jakarta Sans"/>
              </a:rPr>
              <a:t>Policy Improvements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9578" y="3524250"/>
            <a:ext cx="2607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A1A1AA"/>
                </a:solidFill>
                <a:latin typeface="Plus Jakarta Sans"/>
              </a:rPr>
              <a:t>Value Iteration Sweeps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4203" y="3524250"/>
            <a:ext cx="26074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A1A1AA"/>
                </a:solidFill>
                <a:latin typeface="Plus Jakarta Sans"/>
              </a:rPr>
              <a:t>Exact Solve Residual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2800</Words>
  <Application>Microsoft Macintosh PowerPoint</Application>
  <PresentationFormat>Widescreen</PresentationFormat>
  <Paragraphs>411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JetBrains Mono</vt:lpstr>
      <vt:lpstr>Arial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vraj borad</cp:lastModifiedBy>
  <cp:revision>3</cp:revision>
  <dcterms:created xsi:type="dcterms:W3CDTF">2013-01-27T09:14:16Z</dcterms:created>
  <dcterms:modified xsi:type="dcterms:W3CDTF">2026-09-25T09:07:49Z</dcterms:modified>
  <cp:category/>
</cp:coreProperties>
</file>
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87" r:id="rId38"/>
    <p:sldId id="286" r:id="rId37"/>
    <p:sldId id="267" r:id="rId18"/>
    <p:sldId id="268" r:id="rId19"/>
    <p:sldId id="269" r:id="rId20"/>
    <p:sldId id="270" r:id="rId21"/>
    <p:sldId id="293" r:id="rId44"/>
    <p:sldId id="294" r:id="rId45"/>
    <p:sldId id="295" r:id="rId46"/>
    <p:sldId id="271" r:id="rId22"/>
    <p:sldId id="272" r:id="rId23"/>
    <p:sldId id="273" r:id="rId24"/>
    <p:sldId id="274" r:id="rId25"/>
    <p:sldId id="275" r:id="rId26"/>
    <p:sldId id="296" r:id="rId47"/>
    <p:sldId id="297" r:id="rId48"/>
    <p:sldId id="298" r:id="rId49"/>
    <p:sldId id="276" r:id="rId27"/>
    <p:sldId id="277" r:id="rId28"/>
    <p:sldId id="278" r:id="rId29"/>
    <p:sldId id="289" r:id="rId40"/>
    <p:sldId id="288" r:id="rId39"/>
    <p:sldId id="279" r:id="rId30"/>
    <p:sldId id="292" r:id="rId43"/>
    <p:sldId id="291" r:id="rId42"/>
    <p:sldId id="290" r:id="rId41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31.xml"/><Relationship Id="rId31" Type="http://schemas.openxmlformats.org/officeDocument/2006/relationships/slide" Target="slides/slide35.xml"/><Relationship Id="rId32" Type="http://schemas.openxmlformats.org/officeDocument/2006/relationships/slide" Target="slides/slide36.xml"/><Relationship Id="rId33" Type="http://schemas.openxmlformats.org/officeDocument/2006/relationships/slide" Target="slides/slide37.xml"/><Relationship Id="rId34" Type="http://schemas.openxmlformats.org/officeDocument/2006/relationships/slide" Target="slides/slide38.xml"/><Relationship Id="rId35" Type="http://schemas.openxmlformats.org/officeDocument/2006/relationships/slide" Target="slides/slide39.xml"/><Relationship Id="rId36" Type="http://schemas.openxmlformats.org/officeDocument/2006/relationships/slide" Target="slides/slide40.xml"/><Relationship Id="rId37" Type="http://schemas.openxmlformats.org/officeDocument/2006/relationships/slide" Target="slides/slide13.xml"/><Relationship Id="rId38" Type="http://schemas.openxmlformats.org/officeDocument/2006/relationships/slide" Target="slides/slide12.xml"/><Relationship Id="rId39" Type="http://schemas.openxmlformats.org/officeDocument/2006/relationships/slide" Target="slides/slide30.xml"/><Relationship Id="rId40" Type="http://schemas.openxmlformats.org/officeDocument/2006/relationships/slide" Target="slides/slide29.xml"/><Relationship Id="rId41" Type="http://schemas.openxmlformats.org/officeDocument/2006/relationships/slide" Target="slides/slide34.xml"/><Relationship Id="rId42" Type="http://schemas.openxmlformats.org/officeDocument/2006/relationships/slide" Target="slides/slide33.xml"/><Relationship Id="rId43" Type="http://schemas.openxmlformats.org/officeDocument/2006/relationships/slide" Target="slides/slide32.xml"/><Relationship Id="rId44" Type="http://schemas.openxmlformats.org/officeDocument/2006/relationships/slide" Target="slides/slide18.xml"/><Relationship Id="rId45" Type="http://schemas.openxmlformats.org/officeDocument/2006/relationships/slide" Target="slides/slide19.xml"/><Relationship Id="rId46" Type="http://schemas.openxmlformats.org/officeDocument/2006/relationships/slide" Target="slides/slide2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024128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Reinforcement Learning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24128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0">
                <a:solidFill>
                  <a:srgbClr val="BFDBFE"/>
                </a:solidFill>
              </a:defRPr>
            </a:pPr>
            <a:r>
              <a:t>Markov Decision Processes — 4×4 Frozen 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24128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Policy Evaluation  •  Policy Iteration  •  Value Iteration  •  Exact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Assignment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1  Setup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MDP tuple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Gridworld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Transition model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Rewards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32588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2  Evaluation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Bellman expectation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Convergence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Manual check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Q-values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3  Control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Policy iteration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Value iteration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Contraction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325880"/>
            <a:ext cx="2331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4–5  Analysis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Exact solve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Gamma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Living reward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Model-free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1 — Frozen Lake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32588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325880"/>
            <a:ext cx="1074420" cy="1074420"/>
          </a:xfrm>
          <a:prstGeom prst="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B91C1C"/>
                </a:solidFill>
              </a:defRPr>
            </a:pPr>
            <a:r>
              <a:t>H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2588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520439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520439"/>
            <a:ext cx="1074420" cy="1074420"/>
          </a:xfrm>
          <a:prstGeom prst="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B91C1C"/>
                </a:solidFill>
              </a:defRPr>
            </a:pPr>
            <a:r>
              <a:t>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3520439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520439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61772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461772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461772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4617720"/>
            <a:ext cx="1074420" cy="1074420"/>
          </a:xfrm>
          <a:prstGeom prst="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66534"/>
                </a:solidFill>
              </a:defRPr>
            </a:pPr>
            <a:r>
              <a:t>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141732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293B"/>
                </a:solidFill>
              </a:defRPr>
            </a:pPr>
            <a:r>
              <a:t>• 16 states: 0 to 15</a:t>
            </a:r>
          </a:p>
          <a:p>
            <a:pPr>
              <a:spcAft>
                <a:spcPts val="900"/>
              </a:spcAft>
              <a:defRPr sz="1900">
                <a:solidFill>
                  <a:srgbClr val="1E293B"/>
                </a:solidFill>
              </a:defRPr>
            </a:pPr>
            <a:r>
              <a:t>• Actions: L, D, R, U</a:t>
            </a:r>
          </a:p>
          <a:p>
            <a:pPr>
              <a:spcAft>
                <a:spcPts val="900"/>
              </a:spcAft>
              <a:defRPr sz="1900">
                <a:solidFill>
                  <a:srgbClr val="1E293B"/>
                </a:solidFill>
              </a:defRPr>
            </a:pPr>
            <a:r>
              <a:t>• Holes: states 2 and 9</a:t>
            </a:r>
          </a:p>
          <a:p>
            <a:pPr>
              <a:spcAft>
                <a:spcPts val="900"/>
              </a:spcAft>
              <a:defRPr sz="1900">
                <a:solidFill>
                  <a:srgbClr val="1E293B"/>
                </a:solidFill>
              </a:defRPr>
            </a:pPr>
            <a:r>
              <a:t>• Goal: state 15</a:t>
            </a:r>
          </a:p>
          <a:p>
            <a:pPr>
              <a:spcAft>
                <a:spcPts val="900"/>
              </a:spcAft>
              <a:defRPr sz="1900">
                <a:solidFill>
                  <a:srgbClr val="1E293B"/>
                </a:solidFill>
              </a:defRPr>
            </a:pPr>
            <a:r>
              <a:t>• Goal and holes are terminal</a:t>
            </a:r>
          </a:p>
          <a:p>
            <a:pPr>
              <a:spcAft>
                <a:spcPts val="900"/>
              </a:spcAft>
              <a:defRPr sz="1900">
                <a:solidFill>
                  <a:srgbClr val="1E293B"/>
                </a:solidFill>
              </a:defRPr>
            </a:pPr>
            <a:r>
              <a:t>• Discount factor γ = 0.9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1 — Transition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Policy probability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P(L|s)=P(D|s)=P(R|s)=P(U|s)=0.25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This is the RANDOM POLICY π₀.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The 0.25 is the probability of choosing an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20624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B91C1C"/>
                </a:solidFill>
              </a:defRPr>
            </a:pPr>
            <a:r>
              <a:t>State transition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After an action is selected, it moves in the intended direction with probability 1.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R → right cell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L → left cell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U → upper cell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D → lower cell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Boundary → stay in 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1 — Rewards and MDP Tuple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Rewards</a:t>
            </a: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  <a:r>
              <a:t>Ordinary step</a:t>
            </a: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  <a:r>
              <a:t>−0.01</a:t>
            </a: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  <a:r>
              <a:t>Enter goal</a:t>
            </a: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  <a:r>
              <a:t>+1</a:t>
            </a: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  <a:r>
              <a:t>Enter hole</a:t>
            </a: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  <a:r>
              <a:t>−1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70408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MDP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M = (S, A, P, R, γ)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S: 16 states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A: {L,D,R,U}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P: deterministic movement after selected action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R: −0.01 / +1 / −1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γ = 0.9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2 — Policy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Uniform random policy: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</a:defRPr>
            </a:pPr>
            <a:r>
              <a:t>π(a|s)=0.25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0515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Bellman expectation equation</a:t>
            </a: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  <a:r>
              <a:t>V^π(s) = Σ_a π(a|s) Σ_s′ P(s′|s,a)[R(s,a,s′)+γV^π(s′)]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24128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For our deterministic transitions:  V_(k+1)(s)=0.25 Σ_a [R(s,a)+0.9V_k(s′_a)]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2 — Iterative Evaluation: 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7</a:t>
            </a:r>
          </a:p>
        </p:txBody>
      </p:sp>
      <p:pic>
        <p:nvPicPr>
          <p:cNvPr id="5" name="Picture 4" descr="RL_clean_layout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49224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325880"/>
            <a:ext cx="3886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Stopping criterion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Start with V₀=0.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Stop when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||V_(k+1)−V_k||∞ &lt; 10⁻⁵.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π₀ evaluation: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41 sweeps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Final change: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8.642×10⁻⁶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2 — Manual Check: State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3840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Transitions</a:t>
            </a:r>
          </a:p>
          <a:p>
            <a:pPr>
              <a:spcAft>
                <a:spcPts val="500"/>
              </a:spcAft>
              <a:defRPr sz="2300">
                <a:solidFill>
                  <a:srgbClr val="1E293B"/>
                </a:solidFill>
              </a:defRPr>
            </a:pPr>
            <a:r>
              <a:t>6 --L--&gt; 5</a:t>
            </a:r>
          </a:p>
          <a:p>
            <a:pPr>
              <a:spcAft>
                <a:spcPts val="500"/>
              </a:spcAft>
              <a:defRPr sz="2300">
                <a:solidFill>
                  <a:srgbClr val="1E293B"/>
                </a:solidFill>
              </a:defRPr>
            </a:pPr>
            <a:r>
              <a:t>6 --D--&gt; 10</a:t>
            </a:r>
          </a:p>
          <a:p>
            <a:pPr>
              <a:spcAft>
                <a:spcPts val="500"/>
              </a:spcAft>
              <a:defRPr sz="2300">
                <a:solidFill>
                  <a:srgbClr val="1E293B"/>
                </a:solidFill>
              </a:defRPr>
            </a:pPr>
            <a:r>
              <a:t>6 --R--&gt; 7</a:t>
            </a:r>
          </a:p>
          <a:p>
            <a:pPr>
              <a:spcAft>
                <a:spcPts val="500"/>
              </a:spcAft>
              <a:defRPr sz="2300">
                <a:solidFill>
                  <a:srgbClr val="1E293B"/>
                </a:solidFill>
              </a:defRPr>
            </a:pPr>
            <a:r>
              <a:t>6 --U--&gt; 2 (hole)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371600"/>
            <a:ext cx="64008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First two sweeps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V₀ = 0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V₁(6)=0.25[−0.01−0.01−0.01−1]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     = −0.2575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After sweep 1: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V₁(5)=V₁(10)=V₁(7)=−0.01,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V₁(2)=0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V₂(6)=0.25[−0.019−0.019−0.019−1]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     = −0.375625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2 — Value Function V^π₀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7665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Converged values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-0.50732   -0.66817   0.00000   -0.59389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-0.52754   -0.64971   -0.54748   -0.30729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-0.61563   0.00000   -0.33180   0.12736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-0.44854   -0.43638   0.08988   0.00000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Interpretation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V^π₀ is the expected discounted return under the RANDOM policy.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Positive values can occur near the goal.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The values are not yet the optimal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2 — From V to 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Action-value function</a:t>
            </a:r>
          </a:p>
          <a:p>
            <a:pPr>
              <a:spcAft>
                <a:spcPts val="500"/>
              </a:spcAft>
              <a:defRPr sz="2300">
                <a:solidFill>
                  <a:srgbClr val="1E293B"/>
                </a:solidFill>
              </a:defRPr>
            </a:pPr>
            <a:r>
              <a:t>Q^π(s,a)=Σ_s′P(s′|s,a)[R(s,a,s′)+0.9V^π(s′)]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05840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</a:defRPr>
            </a:pPr>
            <a:r>
              <a:t>Because the transition is deterministic after choosing 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05840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E293B"/>
                </a:solidFill>
              </a:defRPr>
            </a:pPr>
            <a:r>
              <a:t>Q^π(s,a)=R(s,a,s′_a)+0.9V^π(s′_a)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05840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000" b="1">
                <a:solidFill>
                  <a:srgbClr val="B91C1C"/>
                </a:solidFill>
              </a:defRPr>
            </a:pPr>
            <a:r>
              <a:t>Now different actions can have different Q-values.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2 — Q-value Example: State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State 10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Left → 9 (hole)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Down → 14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Right → 11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Up → 6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So each action looks at a DIFFERENT next-state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12080" cy="438912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B91C1C"/>
                </a:solidFill>
              </a:defRPr>
            </a:pPr>
            <a:r>
              <a:t>Numerical Q-values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Q(10,L) = -1.0000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Q(10,D) = 0.0709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Q(10,R) = 0.1046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Q(10,U) = -0.5027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Largest: RIGHT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32D"/>
                </a:solidFill>
                <a:latin typeface="Aptos"/>
              </a:rPr>
              <a:t>Part 2 — How to Read the Q-value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F69"/>
                </a:solidFill>
                <a:latin typeface="Aptos"/>
              </a:rPr>
              <a:t>Qπ(s,a) evaluates taking one specific action first, then following 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463039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847088"/>
            <a:ext cx="30723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Qπ(s,a) = R(s,a) + γ Σ P(s′|s,a)Vπ(s′)
Here the chosen action has deterministic movement, so there is one next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182880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463039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Example: state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L → 9 (hole)
D → 14
R → 11
U → 6
Each action therefore gets a different Q-value.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463039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Policy improvement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1847088"/>
            <a:ext cx="30723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Choose argmaxₐ Qπ(s,a).
At state 10:
Q(10,R) = 0.1046 is the largest, so R is selected.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10881360" cy="182880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611879"/>
            <a:ext cx="10479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Important distinction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995928"/>
            <a:ext cx="104790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Vπ(s) is the expected return when following the whole policy from s. Qπ(s,a) is the return after forcing action a once and then following π. Therefore Qπ(s,a) is generally different for different actions.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32D"/>
                </a:solidFill>
                <a:latin typeface="Aptos"/>
              </a:rPr>
              <a:t>Part 2 — Qπ₀(s,a) for All State–Action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F69"/>
                </a:solidFill>
                <a:latin typeface="Aptos"/>
              </a:rPr>
              <a:t>Computed from the converged iterative value function Vπ₀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88136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82D37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36576" marR="36576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82D37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 marL="36576" marR="36576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82D37"/>
                          </a:solidFill>
                          <a:latin typeface="Aptos"/>
                        </a:rPr>
                        <a:t>D</a:t>
                      </a:r>
                    </a:p>
                  </a:txBody>
                  <a:tcPr marL="36576" marR="36576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82D37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36576" marR="36576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82D37"/>
                          </a:solidFill>
                          <a:latin typeface="Aptos"/>
                        </a:rPr>
                        <a:t>U</a:t>
                      </a:r>
                    </a:p>
                  </a:txBody>
                  <a:tcPr marL="36576" marR="36576">
                    <a:solidFill>
                      <a:srgbClr val="E8EB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-0.4666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-0.4848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-0.6113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-0.4666</a:t>
                      </a:r>
                    </a:p>
                  </a:txBody>
                  <a:tcPr marL="36576" marR="36576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-0.4666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-0.5947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-0.6113</a:t>
                      </a:r>
                    </a:p>
                  </a:txBody>
                  <a:tcPr marL="36576" marR="36576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-0.2866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-0.5445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-0.5445</a:t>
                      </a:r>
                    </a:p>
                  </a:txBody>
                  <a:tcPr marL="36576" marR="36576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-0.4848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-0.5641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-0.5947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-0.4666</a:t>
                      </a:r>
                    </a:p>
                  </a:txBody>
                  <a:tcPr marL="36576" marR="36576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-0.4848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-0.5027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-0.6113</a:t>
                      </a:r>
                    </a:p>
                  </a:txBody>
                  <a:tcPr marL="36576" marR="36576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-0.5947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-0.3086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-0.2866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-1.0000</a:t>
                      </a:r>
                    </a:p>
                  </a:txBody>
                  <a:tcPr marL="36576" marR="36576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-0.5027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0.1046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-0.2866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-0.5445</a:t>
                      </a:r>
                    </a:p>
                  </a:txBody>
                  <a:tcPr marL="36576" marR="36576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-0.5641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-0.4137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-0.4848</a:t>
                      </a:r>
                    </a:p>
                  </a:txBody>
                  <a:tcPr marL="36576" marR="36576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0.0709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0.1046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-0.5027</a:t>
                      </a:r>
                    </a:p>
                  </a:txBody>
                  <a:tcPr marL="36576" marR="36576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-0.3086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0.1046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-0.2866</a:t>
                      </a:r>
                    </a:p>
                  </a:txBody>
                  <a:tcPr marL="36576" marR="36576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-0.4137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-0.4137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-0.4027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-0.5641</a:t>
                      </a:r>
                    </a:p>
                  </a:txBody>
                  <a:tcPr marL="36576" marR="36576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-0.4137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-0.4027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0.0709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-1.0000</a:t>
                      </a:r>
                    </a:p>
                  </a:txBody>
                  <a:tcPr marL="36576" marR="36576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-0.4027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0.0709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D37"/>
                          </a:solidFill>
                          <a:latin typeface="Aptos"/>
                        </a:rPr>
                        <a:t>-0.3086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" y="62636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0555F"/>
                </a:solidFill>
                <a:latin typeface="Aptos"/>
              </a:rPr>
              <a:t>Terminal states 2, 9 and 15 are excluded because the episode has already ended there.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3 — Policy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</a:defRPr>
            </a:pPr>
            <a:r>
              <a:t>Repeat two operations: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48463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1. Policy Evaluation</a:t>
            </a: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  <a:r>
              <a:t>Evaluate the CURRENT policy until its values converge.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48463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2. Policy Improvement</a:t>
            </a: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  <a:r>
              <a:t>Use Q-values to choose the best action at every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94960"/>
            <a:ext cx="8686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100" b="1">
                <a:solidFill>
                  <a:srgbClr val="166534"/>
                </a:solidFill>
              </a:defRPr>
            </a:pPr>
            <a:r>
              <a:t>Stop when the improved policy is unchanged.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Policy Iteration — Start with π₀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Initial policy</a:t>
            </a:r>
          </a:p>
          <a:p>
            <a:pPr>
              <a:spcAft>
                <a:spcPts val="500"/>
              </a:spcAft>
              <a:defRPr sz="2300">
                <a:solidFill>
                  <a:srgbClr val="1E293B"/>
                </a:solidFill>
              </a:defRPr>
            </a:pPr>
            <a:r>
              <a:t>Uniform random:</a:t>
            </a:r>
          </a:p>
          <a:p>
            <a:pPr>
              <a:spcAft>
                <a:spcPts val="500"/>
              </a:spcAft>
              <a:defRPr sz="2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300">
                <a:solidFill>
                  <a:srgbClr val="1E293B"/>
                </a:solidFill>
              </a:defRPr>
            </a:pPr>
            <a:r>
              <a:t>L = 0.25</a:t>
            </a:r>
          </a:p>
          <a:p>
            <a:pPr>
              <a:spcAft>
                <a:spcPts val="500"/>
              </a:spcAft>
              <a:defRPr sz="2300">
                <a:solidFill>
                  <a:srgbClr val="1E293B"/>
                </a:solidFill>
              </a:defRPr>
            </a:pPr>
            <a:r>
              <a:t>D = 0.25</a:t>
            </a:r>
          </a:p>
          <a:p>
            <a:pPr>
              <a:spcAft>
                <a:spcPts val="500"/>
              </a:spcAft>
              <a:defRPr sz="2300">
                <a:solidFill>
                  <a:srgbClr val="1E293B"/>
                </a:solidFill>
              </a:defRPr>
            </a:pPr>
            <a:r>
              <a:t>R = 0.25</a:t>
            </a:r>
          </a:p>
          <a:p>
            <a:pPr>
              <a:spcAft>
                <a:spcPts val="500"/>
              </a:spcAft>
              <a:defRPr sz="2300">
                <a:solidFill>
                  <a:srgbClr val="1E293B"/>
                </a:solidFill>
              </a:defRPr>
            </a:pPr>
            <a:r>
              <a:t>U = 0.25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Evaluate π₀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Run Bellman expectation updates.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Converges after 41 sweeps.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Then calculate Q^π₀(s,a) for all actions.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Policy Iteration — Improvement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L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32588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L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325880"/>
            <a:ext cx="1074420" cy="1074420"/>
          </a:xfrm>
          <a:prstGeom prst="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B91C1C"/>
                </a:solidFill>
              </a:defRPr>
            </a:pPr>
            <a:r>
              <a:t>H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2588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520439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520439"/>
            <a:ext cx="1074420" cy="1074420"/>
          </a:xfrm>
          <a:prstGeom prst="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B91C1C"/>
                </a:solidFill>
              </a:defRPr>
            </a:pPr>
            <a:r>
              <a:t>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3520439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520439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61772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461772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461772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4617720"/>
            <a:ext cx="1074420" cy="1074420"/>
          </a:xfrm>
          <a:prstGeom prst="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66534"/>
                </a:solidFill>
              </a:defRPr>
            </a:pPr>
            <a:r>
              <a:t>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132588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π₁ = argmax Q^π₀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The actions are now directional.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Example: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state 10 → R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state 14 → R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state 11 → D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This is the first policy improvement.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Policy Iteration — Evaluate π₁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Why evaluate again?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Q^π₀ was based on V^π₀.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After changing the policy, the future trajectory changes.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Therefore we must compute V^π₁.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12080" cy="438912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B91C1C"/>
                </a:solidFill>
              </a:defRPr>
            </a:pPr>
            <a:r>
              <a:t>Result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π₁ evaluation: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67 Bellman sweeps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Final change: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9.550×10⁻⁶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This is a NEW policy evaluation, not part of the original 41 sweeps.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32D"/>
                </a:solidFill>
                <a:latin typeface="Aptos"/>
              </a:rPr>
              <a:t>Part 3 — Policy Evaluation: Value Iterations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F69"/>
                </a:solidFill>
                <a:latin typeface="Aptos"/>
              </a:rPr>
              <a:t>Evaluating the initial random policy π₀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278892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371600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V₀ — initialization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755648"/>
            <a:ext cx="3072384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All non-terminal states start at 0.
V₀(s)=0
This is the starting point for iterative policy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474720" cy="278892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371600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V₁ — after one sweep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755648"/>
            <a:ext cx="3072384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-0.010  -0.258   H   -0.258
-0.010  -0.258  -0.258  -0.010
-0.258   H   -0.258   0.242
-0.010  -0.258   0.242   G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474720" cy="278892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371600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V₂ — after two sweeps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1755648"/>
            <a:ext cx="3072384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-0.075  -0.376   H   -0.376
-0.130  -0.376  -0.376  -0.074
-0.320   H   -0.206   0.237
-0.130  -0.263   0.181   G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97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32D"/>
                </a:solidFill>
                <a:latin typeface="Aptos"/>
              </a:rPr>
              <a:t>Example: V₁(6)=−0.2575 and V₂(6)=−0.26925. Each sweep uses the previous sweep's estimates.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32D"/>
                </a:solidFill>
                <a:latin typeface="Aptos"/>
              </a:rPr>
              <a:t>Part 3 — Policy Evaluation: Values Converge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F69"/>
                </a:solidFill>
                <a:latin typeface="Aptos"/>
              </a:rPr>
              <a:t>Continuing the evaluation of π₀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256032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371600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V₁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755648"/>
            <a:ext cx="3072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-0.010  -0.258   H   -0.258
-0.010  -0.258  -0.258  -0.010
-0.258   H   -0.258   0.242
-0.010  -0.258   0.242   G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474720" cy="256032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371600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V₅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755648"/>
            <a:ext cx="3072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-0.288  -0.532   H   -0.518
-0.335  -0.533  -0.467  -0.215
-0.477   H   -0.276   0.191
-0.298  -0.354   0.146   G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474720" cy="256032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371600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V₄₁ — converged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1755648"/>
            <a:ext cx="3072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-0.507  -0.668   H   -0.594
-0.528  -0.650  -0.547  -0.307
-0.616   H   -0.332   0.127
-0.449  -0.436   0.090   G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32D"/>
                </a:solidFill>
                <a:latin typeface="Aptos"/>
              </a:rPr>
              <a:t>After 41 sweeps, max |Vₖ₊₁−Vₖ| &lt; 10⁻⁵. These values are then used for Qπ₀(s,a) and policy improvement.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32D"/>
                </a:solidFill>
                <a:latin typeface="Aptos"/>
              </a:rPr>
              <a:t>Part 3 — Evaluation Happens Again After π₀ → π₁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F69"/>
                </a:solidFill>
                <a:latin typeface="Aptos"/>
              </a:rPr>
              <a:t>Policy iteration evaluates the new policy from a fresh value estimate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212080" cy="256032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371600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π₁: first sweep V₁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755648"/>
            <a:ext cx="480974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-0.010  -0.010   H   -0.010
-0.010  -0.010  -0.010  -0.010
-0.010   H   -0.010   1.000
-0.010  -0.010   1.000   G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5212080" cy="256032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371600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π₁: converged V₆₇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755648"/>
            <a:ext cx="480974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-0.100  -0.100   H    0.791
-0.100  -0.100   0.791   0.890
 0.702   H    0.890   1.000
 0.791   0.890   1.000   G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60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32D"/>
                </a:solidFill>
                <a:latin typeface="Aptos"/>
              </a:rPr>
              <a:t>π₁ needs 67 sweeps to reach ε = 10⁻⁵. This is an inner evaluation process; the outer policy iteration changes π only after evaluation.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Policy Iteration — What Changed After π₁?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V^π₀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-0.5073   -0.6682   0.0000   -0.5939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-0.5275   -0.6497   -0.5475   -0.3073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-0.6156   0.0000   -0.3318   0.1274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-0.4485   -0.4364   0.0899   0.0000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V^π₁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-0.0999   -0.0999   0.0000   0.7910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-0.0999   -0.0999   0.7910   0.8900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0.7019   0.0000   0.8900   1.0000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0.7910   0.8900   1.0000   0.0000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89320"/>
            <a:ext cx="85039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1">
                <a:solidFill>
                  <a:srgbClr val="B91C1C"/>
                </a:solidFill>
              </a:defRPr>
            </a:pPr>
            <a:r>
              <a:t>max |V^π₁−V^π₀| = 1.3849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Policy Iteration — Improvement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L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32588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L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325880"/>
            <a:ext cx="1074420" cy="1074420"/>
          </a:xfrm>
          <a:prstGeom prst="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B91C1C"/>
                </a:solidFill>
              </a:defRPr>
            </a:pPr>
            <a:r>
              <a:t>H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2588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520439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520439"/>
            <a:ext cx="1074420" cy="1074420"/>
          </a:xfrm>
          <a:prstGeom prst="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B91C1C"/>
                </a:solidFill>
              </a:defRPr>
            </a:pPr>
            <a:r>
              <a:t>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3520439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520439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61772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461772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461772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4617720"/>
            <a:ext cx="1074420" cy="1074420"/>
          </a:xfrm>
          <a:prstGeom prst="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66534"/>
                </a:solidFill>
              </a:defRPr>
            </a:pPr>
            <a:r>
              <a:t>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1325880"/>
            <a:ext cx="5394960" cy="438912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B91C1C"/>
                </a:solidFill>
              </a:defRPr>
            </a:pPr>
            <a:r>
              <a:t>π₂ = argmax Q^π₁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π₂ is different from π₁.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So we CANNOT stop after the first improvement.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Next: evaluate π₂ and improve once more.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Policy Iteration — Evaluate π₂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Evaluate π₂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Run policy evaluation again.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π₂ evaluation: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67 Bellman sweeps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Final change: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9.550×10⁻⁶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12080" cy="438912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166534"/>
                </a:solidFill>
              </a:defRPr>
            </a:pPr>
            <a:r>
              <a:t>Then improve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Compute Q^π₂(s,a).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The next improvement gives: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π₃ = π₂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So the policy is now stable.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Policy Iteration — Final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Policy sequence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π₀  →  π₁  →  π₂  →  π₃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Policy changes: 2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Final check: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π₃ = π₂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Therefore π₂ is the stable policy.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2588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32588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1325880"/>
            <a:ext cx="1074420" cy="1074420"/>
          </a:xfrm>
          <a:prstGeom prst="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B91C1C"/>
                </a:solidFill>
              </a:defRPr>
            </a:pPr>
            <a:r>
              <a:t>H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132588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242316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520439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520439"/>
            <a:ext cx="1074420" cy="1074420"/>
          </a:xfrm>
          <a:prstGeom prst="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B91C1C"/>
                </a:solidFill>
              </a:defRPr>
            </a:pPr>
            <a:r>
              <a:t>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3520439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3520439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61772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461772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4617720"/>
            <a:ext cx="1074420" cy="10744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4617720"/>
            <a:ext cx="1074420" cy="1074420"/>
          </a:xfrm>
          <a:prstGeom prst="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66534"/>
                </a:solidFill>
              </a:defRPr>
            </a:pPr>
            <a:r>
              <a:t>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806440"/>
            <a:ext cx="4389120" cy="384048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66534"/>
                </a:solidFill>
              </a:defRPr>
            </a:pPr>
            <a:r>
              <a:t>Stable policy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D D H D  /  D R D D  /  D H D D  /  R R R 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3 — Value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Bellman optimality update</a:t>
            </a: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  <a:r>
              <a:t>V_(k+1)(s)=max_a Σ_s′P(s′|s,a)[R(s,a,s′)+0.9V_k(s′)]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Convergence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Start with V₀=0.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Stop at 10⁻⁵.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Converges in 7 sweeps.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063240"/>
            <a:ext cx="5212080" cy="246888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B91C1C"/>
                </a:solidFill>
              </a:defRPr>
            </a:pPr>
            <a:r>
              <a:t>Greedy policy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After convergence: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π*(s)=argmax_a Q*(s,a)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This should match the final policy from policy iteration.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3 — Policy Iteration vs Value Iteration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1325880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325880"/>
            <a:ext cx="1028700" cy="1028700"/>
          </a:xfrm>
          <a:prstGeom prst="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B91C1C"/>
                </a:solidFill>
              </a:defRPr>
            </a:pPr>
            <a:r>
              <a:t>H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79" y="1325880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77439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2377439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377439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79" y="2377439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29000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3429000"/>
            <a:ext cx="1028700" cy="1028700"/>
          </a:xfrm>
          <a:prstGeom prst="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B91C1C"/>
                </a:solidFill>
              </a:defRPr>
            </a:pPr>
            <a:r>
              <a:t>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429000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79" y="3429000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480559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4480559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4480559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79" y="4480559"/>
            <a:ext cx="1028700" cy="1028700"/>
          </a:xfrm>
          <a:prstGeom prst="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66534"/>
                </a:solidFill>
              </a:defRPr>
            </a:pPr>
            <a:r>
              <a:t>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325880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1325880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1325880"/>
            <a:ext cx="1028700" cy="1028700"/>
          </a:xfrm>
          <a:prstGeom prst="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B91C1C"/>
                </a:solidFill>
              </a:defRPr>
            </a:pPr>
            <a:r>
              <a:t>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1325880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377439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2377439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2377439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2377439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29000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3429000"/>
            <a:ext cx="1028700" cy="1028700"/>
          </a:xfrm>
          <a:prstGeom prst="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B91C1C"/>
                </a:solidFill>
              </a:defRPr>
            </a:pPr>
            <a:r>
              <a:t>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3429000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55480" y="3429000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480559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4480559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4480559"/>
            <a:ext cx="10287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4480559"/>
            <a:ext cx="1028700" cy="1028700"/>
          </a:xfrm>
          <a:prstGeom prst="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66534"/>
                </a:solidFill>
              </a:defRPr>
            </a:pPr>
            <a:r>
              <a:t>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6928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Policy Iteration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66928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Value Iteration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2880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6534"/>
                </a:solidFill>
              </a:defRPr>
            </a:pPr>
            <a:r>
              <a:t>MATCH 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3 — Contraction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Policy evaluation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T^π is a γ-contraction: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||T^πV − T^πW||∞ ≤ γ||V−W||∞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With γ=0.9, repeated backups gradually approach V^π.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Value iteration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T* is also a γ-contraction: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||T*V − T*W||∞ ≤ γ||V−W||∞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Therefore repeated Bellman-optimality backups converge to V*.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3 — Why the Iteration Counts Differ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Policy iteration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One improvement step can change actions at MANY states at once.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Here: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2 policy changes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+ 1 stability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12080" cy="438912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B91C1C"/>
                </a:solidFill>
              </a:defRPr>
            </a:pPr>
            <a:r>
              <a:t>Value iteration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Changes values directly through Bellman optimality backups.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Here: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7 sweeps to reach 10⁻⁵.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Both methods converge to the same optimal policy.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32D"/>
                </a:solidFill>
                <a:latin typeface="Aptos"/>
              </a:rPr>
              <a:t>Part 3 — Policy Iteration: What Happened at Each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F69"/>
                </a:solidFill>
                <a:latin typeface="Aptos"/>
              </a:rPr>
              <a:t>Evaluation sweeps are internal; policy changes are the outer iterations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7899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82D37"/>
                          </a:solidFill>
                          <a:latin typeface="Aptos"/>
                        </a:rPr>
                        <a:t>Stage</a:t>
                      </a:r>
                    </a:p>
                  </a:txBody>
                  <a:tcPr marL="36576" marR="36576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82D37"/>
                          </a:solidFill>
                          <a:latin typeface="Aptos"/>
                        </a:rPr>
                        <a:t>Policy evaluated</a:t>
                      </a:r>
                    </a:p>
                  </a:txBody>
                  <a:tcPr marL="36576" marR="36576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82D37"/>
                          </a:solidFill>
                          <a:latin typeface="Aptos"/>
                        </a:rPr>
                        <a:t>Evaluation sweeps</a:t>
                      </a:r>
                    </a:p>
                  </a:txBody>
                  <a:tcPr marL="36576" marR="36576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82D37"/>
                          </a:solidFill>
                          <a:latin typeface="Aptos"/>
                        </a:rPr>
                        <a:t>Improvement</a:t>
                      </a:r>
                    </a:p>
                  </a:txBody>
                  <a:tcPr marL="36576" marR="36576">
                    <a:solidFill>
                      <a:srgbClr val="E8EBF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D3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D37"/>
                          </a:solidFill>
                          <a:latin typeface="Aptos"/>
                        </a:rPr>
                        <a:t>π₀ (uniform random)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D37"/>
                          </a:solidFill>
                          <a:latin typeface="Aptos"/>
                        </a:rPr>
                        <a:t>41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D37"/>
                          </a:solidFill>
                          <a:latin typeface="Aptos"/>
                        </a:rPr>
                        <a:t>Changed → π₁</a:t>
                      </a:r>
                    </a:p>
                  </a:txBody>
                  <a:tcPr marL="36576" marR="36576"/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D3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D37"/>
                          </a:solidFill>
                          <a:latin typeface="Aptos"/>
                        </a:rPr>
                        <a:t>π₁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D37"/>
                          </a:solidFill>
                          <a:latin typeface="Aptos"/>
                        </a:rPr>
                        <a:t>67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D37"/>
                          </a:solidFill>
                          <a:latin typeface="Aptos"/>
                        </a:rPr>
                        <a:t>Changed → π₂</a:t>
                      </a:r>
                    </a:p>
                  </a:txBody>
                  <a:tcPr marL="36576" marR="36576"/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D3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D37"/>
                          </a:solidFill>
                          <a:latin typeface="Aptos"/>
                        </a:rPr>
                        <a:t>π₂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D37"/>
                          </a:solidFill>
                          <a:latin typeface="Aptos"/>
                        </a:rPr>
                        <a:t>67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D37"/>
                          </a:solidFill>
                          <a:latin typeface="Aptos"/>
                        </a:rPr>
                        <a:t>No change → π₃ = π₂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3886200"/>
            <a:ext cx="5212080" cy="160020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4023360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Policy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407408"/>
            <a:ext cx="480974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2 actual policy changes.
The third improvement is a stability 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86200"/>
            <a:ext cx="5212080" cy="160020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4023360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Key observation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4407408"/>
            <a:ext cx="480974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Bellman sweeps are not policy iterations. A policy iteration consists of evaluating one policy and then performing one policy-improvement step.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32D"/>
                </a:solidFill>
                <a:latin typeface="Aptos"/>
              </a:rPr>
              <a:t>Part 3 — Policy Stabilization vs Value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F69"/>
                </a:solidFill>
                <a:latin typeface="Aptos"/>
              </a:rPr>
              <a:t>What the assignment asks us to observe during policy iteration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474720" cy="201168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417319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Two different loops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801367"/>
            <a:ext cx="3072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Inner loop: evaluate Vπ using repeated Bellman expectation sweeps.
Outer loop: improve π using argmaxₐ Qπ(s,a).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474720" cy="201168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417319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When does policy stabilize?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801367"/>
            <a:ext cx="3072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When every state's greedy action under the evaluated Vπ is already the action selected by π.
Then πnew = π and policy iteration stops.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474720" cy="201168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417319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Can it happen before exact V convergence?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1801367"/>
            <a:ext cx="3072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Yes, in principle. With truncated policy evaluation, action ordering can become stable even while V is still approaching its fixed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10881360" cy="192024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749040"/>
            <a:ext cx="10479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What happened in this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133088"/>
            <a:ext cx="104790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Each policy was evaluated until ε = 10⁻⁵ before improvement. So this run did not deliberately use truncated evaluation. The policy changed twice: π₀ → π₁ → π₂, and the next improvement gave π₃ = π₂. Hence π₂ is the stable policy.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4 — Exact Policy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Linear system</a:t>
            </a: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  <a:r>
              <a:t>V^π = R^π + 0.9P^πV^π  →  (I−0.9P^π)V^π = R^π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293B"/>
                </a:solidFill>
              </a:defRPr>
            </a:pPr>
            <a:r>
              <a:t>• P^π = 0.25(P_L+P_D+P_R+P_U).</a:t>
            </a:r>
          </a:p>
          <a:p>
            <a:pPr>
              <a:spcAft>
                <a:spcPts val="900"/>
              </a:spcAft>
              <a:defRPr sz="1900">
                <a:solidFill>
                  <a:srgbClr val="1E293B"/>
                </a:solidFill>
              </a:defRPr>
            </a:pPr>
            <a:r>
              <a:t>• R^π = 0.25(R_L+R_D+R_R+R_U).</a:t>
            </a:r>
          </a:p>
          <a:p>
            <a:pPr>
              <a:spcAft>
                <a:spcPts val="900"/>
              </a:spcAft>
              <a:defRPr sz="1900">
                <a:solidFill>
                  <a:srgbClr val="1E293B"/>
                </a:solidFill>
              </a:defRPr>
            </a:pPr>
            <a:r>
              <a:t>• Use NumPy to solve the 16×16 system.</a:t>
            </a:r>
          </a:p>
          <a:p>
            <a:pPr>
              <a:spcAft>
                <a:spcPts val="900"/>
              </a:spcAft>
              <a:defRPr sz="1900">
                <a:solidFill>
                  <a:srgbClr val="1E293B"/>
                </a:solidFill>
              </a:defRPr>
            </a:pPr>
            <a:r>
              <a:t>• max |V_exact−V_iterative| = 3.074e-05.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32D"/>
                </a:solidFill>
                <a:latin typeface="Aptos"/>
              </a:rPr>
              <a:t>Part 4 — Solving and Comparing the Two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F69"/>
                </a:solidFill>
                <a:latin typeface="Aptos"/>
              </a:rPr>
              <a:t>Exact linear algebra versus iterative Bellman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212080" cy="182880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371600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Exact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755648"/>
            <a:ext cx="480974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Construct Pπ and Rπ → form A = I − 0.9Pπ → solve A V = Rπ.
NumPy: np.linalg.solve(A, Rπ) solves the linear system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5212080" cy="182880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371600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Iterative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755648"/>
            <a:ext cx="480974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Start with V₀ = 0 and repeatedly apply:
Vₖ₊₁ = Rπ + γPπVₖ
Stop when max|Vₖ₊₁−Vₖ| &lt; 10⁻⁵.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29000"/>
            <a:ext cx="10698480" cy="155448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566160"/>
            <a:ext cx="10296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Comparison for this assignment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950208"/>
            <a:ext cx="102961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The two methods give nearly identical values. With ε = 10⁻⁵, the maximum absolute difference is approximately 3.07×10⁻⁵. The small residual is caused by stopping the iterative method at a finite tolerance.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32D"/>
                </a:solidFill>
                <a:latin typeface="Aptos"/>
              </a:rPr>
              <a:t>Part 4 — How Pπ and Rπ Are Constructed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F69"/>
                </a:solidFill>
                <a:latin typeface="Aptos"/>
              </a:rPr>
              <a:t>Uniform random policy: π(a|s)=0.25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03520" cy="196596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371600"/>
            <a:ext cx="49011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Example: state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755648"/>
            <a:ext cx="4901183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L → 9 (hole), D → 14, R → 11, U → 6.
Pπ row for state 10 puts 0.25 in the columns for 14, 11 and 6. The transition to terminal hole 9 has no non-terminal column.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074920" cy="196596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371600"/>
            <a:ext cx="4672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Reward-vector entry for state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755648"/>
            <a:ext cx="4672583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Rewards are −1, −0.01, −0.01, −0.01.
Rπ(10) = 0.25(−1 −0.01 −0.01 −0.01)
= −0.2575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20440"/>
            <a:ext cx="10607040" cy="164592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657600"/>
            <a:ext cx="10204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Why terminal transitions disappear from Pπ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041648"/>
            <a:ext cx="102047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The terminal state's continuation value is taken as 0 after termination. Its immediate reward is already included in Rπ. Thus terminal transitions contribute to the reward vector but not to the non-terminal transition matrix.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40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32832"/>
                </a:solidFill>
                <a:latin typeface="Aptos"/>
              </a:rPr>
              <a:t>(I − 0.9Pπ)Vπ = Rπ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32D"/>
                </a:solidFill>
                <a:latin typeface="Aptos"/>
              </a:rPr>
              <a:t>Part 4 — Exact Evaluation: What Are the Matrices?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F69"/>
                </a:solidFill>
                <a:latin typeface="Aptos"/>
              </a:rPr>
              <a:t>The linear system is built for the 13 non-terminal states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21208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371600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Pπ — Policy-induced transition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755648"/>
            <a:ext cx="48097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Pπ[i,j] = Σₐ π(a|si)P(sj|si,a)
A 13×13 matrix: it gives the probability of moving between non-terminal states under 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521208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371600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Rπ — Expected reward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755648"/>
            <a:ext cx="48097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Rπ[i] = Σₐ π(a|si)R(si,a)
A 13×1 vector: expected immediate reward at each state under π.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521208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108960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I — Identity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493008"/>
            <a:ext cx="48097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A 13×13 identity matrix.
1 on the diagonal, 0 elsewhere.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971800"/>
            <a:ext cx="521208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3108960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32D"/>
                </a:solidFill>
                <a:latin typeface="Aptos"/>
              </a:rPr>
              <a:t>A = I − γPπ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3493008"/>
            <a:ext cx="48097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73C46"/>
                </a:solidFill>
                <a:latin typeface="Aptos"/>
              </a:rPr>
              <a:t>A is the 13×13 coefficient matrix.
The Bellman equations become:
A Vπ = Rπ.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83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2832"/>
                </a:solidFill>
                <a:latin typeface="Aptos"/>
              </a:rPr>
              <a:t>Vπ = (I − γPπ)⁻¹Rπ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4 — Exact and Iterative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Iterative V^π₀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-0.50732   -0.66817   0.00000   -0.59389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-0.52754   -0.64971   -0.54748   -0.30729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-0.61563   0.00000   -0.33180   0.12736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-0.44854   -0.43638   0.08988   0.00000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Exact V^π₀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-0.50735   -0.66819   0.00000   -0.59389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-0.52757   -0.64973   -0.54749   -0.30730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-0.61565   0.00000   -0.33181   0.12736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-0.44856   -0.43639   0.08988   0.00000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89320"/>
            <a:ext cx="85039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1">
                <a:solidFill>
                  <a:srgbClr val="166534"/>
                </a:solidFill>
              </a:defRPr>
            </a:pPr>
            <a:r>
              <a:t>Maximum absolute difference = 3.074e-05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4 — Why Exact Linear Algebra Does Not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1E293B"/>
                </a:solidFill>
              </a:defRPr>
            </a:pPr>
            <a:r>
              <a:t>• For N states, the matrix is N×N.</a:t>
            </a:r>
          </a:p>
          <a:p>
            <a:pPr>
              <a:spcAft>
                <a:spcPts val="900"/>
              </a:spcAft>
              <a:defRPr sz="2100">
                <a:solidFill>
                  <a:srgbClr val="1E293B"/>
                </a:solidFill>
              </a:defRPr>
            </a:pPr>
            <a:r>
              <a:t>• Dense storage is O(N²).</a:t>
            </a:r>
          </a:p>
          <a:p>
            <a:pPr>
              <a:spcAft>
                <a:spcPts val="900"/>
              </a:spcAft>
              <a:defRPr sz="2100">
                <a:solidFill>
                  <a:srgbClr val="1E293B"/>
                </a:solidFill>
              </a:defRPr>
            </a:pPr>
            <a:r>
              <a:t>• Direct dense solution is approximately O(N³).</a:t>
            </a:r>
          </a:p>
          <a:p>
            <a:pPr>
              <a:spcAft>
                <a:spcPts val="900"/>
              </a:spcAft>
              <a:defRPr sz="2100">
                <a:solidFill>
                  <a:srgbClr val="1E293B"/>
                </a:solidFill>
              </a:defRPr>
            </a:pPr>
            <a:r>
              <a:t>• Large RL problems instead use iterative updates, samples, or function approximation.</a:t>
            </a:r>
          </a:p>
          <a:p>
            <a:pPr>
              <a:spcAft>
                <a:spcPts val="900"/>
              </a:spcAft>
              <a:defRPr sz="2100">
                <a:solidFill>
                  <a:srgbClr val="1E293B"/>
                </a:solidFill>
              </a:defRPr>
            </a:pPr>
            <a:r>
              <a:t>• The 16×16 system is practical here; very large state spaces are not.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5 — Effect of 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γ = 0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Only immediate reward matters.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2588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γ = 0.5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Future rewards are strongly discounted.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2588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γ = 0.999</a:t>
            </a:r>
          </a:p>
          <a:p>
            <a:pPr>
              <a:spcAft>
                <a:spcPts val="500"/>
              </a:spcAft>
              <a:defRPr sz="2100">
                <a:solidFill>
                  <a:srgbClr val="1E293B"/>
                </a:solidFill>
              </a:defRPr>
            </a:pPr>
            <a:r>
              <a:t>Future rewards are almost fully retained.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5 — Change the Living Reward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Original</a:t>
            </a: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  <a:r>
              <a:t>Step reward = −0.01</a:t>
            </a: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200">
                <a:solidFill>
                  <a:srgbClr val="1E293B"/>
                </a:solidFill>
              </a:defRPr>
            </a:pPr>
            <a:r>
              <a:t>Every additional step has a small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12080" cy="429768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defRPr sz="1500" b="1">
                <a:solidFill>
                  <a:srgbClr val="B91C1C"/>
                </a:solidFill>
              </a:defRPr>
            </a:pPr>
            <a:r>
              <a:t>Modified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Step reward = 0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No direct living-cost penalty.</a:t>
            </a: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2000">
                <a:solidFill>
                  <a:srgbClr val="1E293B"/>
                </a:solidFill>
              </a:defRPr>
            </a:pPr>
            <a:r>
              <a:t>Re-run value iteration and compare the policy.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Part 5 — If P and R Are Unknown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Reinforcement Learning • MDP Assignment    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1E293B"/>
                </a:solidFill>
              </a:defRPr>
            </a:pPr>
            <a:r>
              <a:t>• The current solution assumes P and R are known.</a:t>
            </a:r>
          </a:p>
          <a:p>
            <a:pPr>
              <a:spcAft>
                <a:spcPts val="900"/>
              </a:spcAft>
              <a:defRPr sz="2100">
                <a:solidFill>
                  <a:srgbClr val="1E293B"/>
                </a:solidFill>
              </a:defRPr>
            </a:pPr>
            <a:r>
              <a:t>• Without P and R, collect experience tuples (s,a,r,s′).</a:t>
            </a:r>
          </a:p>
          <a:p>
            <a:pPr>
              <a:spcAft>
                <a:spcPts val="900"/>
              </a:spcAft>
              <a:defRPr sz="2100">
                <a:solidFill>
                  <a:srgbClr val="1E293B"/>
                </a:solidFill>
              </a:defRPr>
            </a:pPr>
            <a:r>
              <a:t>• Estimate values from sampled experience instead of exact transition expectations.</a:t>
            </a:r>
          </a:p>
          <a:p>
            <a:pPr>
              <a:spcAft>
                <a:spcPts val="900"/>
              </a:spcAft>
              <a:defRPr sz="2100">
                <a:solidFill>
                  <a:srgbClr val="1E293B"/>
                </a:solidFill>
              </a:defRPr>
            </a:pPr>
            <a:r>
              <a:t>• Monte Carlo and Q-learning are examples of model-free methods.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Final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Policy iteration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π₀ → π₁ → π₂ → π₃=π₂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Policy changes: 2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π₀ evaluation: 41 sweeps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π₁ evaluation: 67 sweeps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π₂ evaluation: 67 sweeps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π₃ stability check: 7 sweeps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Final policy is π₂.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457200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66534"/>
                </a:solidFill>
              </a:defRPr>
            </a:pPr>
            <a:r>
              <a:t>Value iteration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Converges in 7 sweeps.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Greedy policy matches the final policy-iteration policy.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Threshold: 10⁻⁵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Final policy: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D D H D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D R D D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D H D D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R R R 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32D"/>
                </a:solidFill>
                <a:latin typeface="Aptos"/>
              </a:rPr>
              <a:t>Part 3 — Value Iteration: Intermediate Sweeps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F69"/>
                </a:solidFill>
                <a:latin typeface="Aptos"/>
              </a:rPr>
              <a:t>Unlike policy iteration, value iteration directly applies the Bellman optimality update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274320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371600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V₀ — initialization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755648"/>
            <a:ext cx="3072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All non-terminal states start at 0.
V₀(s)=0
No policy is required yet.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474720" cy="274320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371600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V₁ — first sweep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755648"/>
            <a:ext cx="3072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-0.010  -0.010   H   -0.010
-0.010  -0.010  -0.010  -0.010
-0.010   H   -0.010   1.000
-0.010  -0.010   1.000   G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474720" cy="274320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371600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V₂ — second sweep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1755648"/>
            <a:ext cx="3072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-0.019  -0.019   H   -0.019
-0.019  -0.019  -0.019   0.890
-0.019   H    0.890   1.000
-0.019   0.890   1.000   G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976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32D"/>
                </a:solidFill>
                <a:latin typeface="Aptos"/>
              </a:rPr>
              <a:t>Update rule: Vₖ₊₁(s) = maxₐ [R(s,a) + γVₖ(s′)]. The maximum is taken over actions at every state.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32D"/>
                </a:solidFill>
                <a:latin typeface="Aptos"/>
              </a:rPr>
              <a:t>Part 3 — Value Iteration: Moving Toward the Final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F69"/>
                </a:solidFill>
                <a:latin typeface="Aptos"/>
              </a:rPr>
              <a:t>The values become increasingly close to the optimal value function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256032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371600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V₃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755648"/>
            <a:ext cx="3072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-0.027  -0.027   H    0.791
-0.027  -0.027   0.791   0.890
-0.027   H    0.890   1.000
 0.791   0.890   1.000   G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474720" cy="256032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371600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V₅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755648"/>
            <a:ext cx="3072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-0.041   0.622   H    0.791
 0.622   0.702   0.791   0.890
 0.702   H    0.890   1.000
 0.791   0.890   1.000   G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474720" cy="256032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371600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V₇ — converged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1755648"/>
            <a:ext cx="3072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 0.550   0.622   H    0.791
 0.622   0.702   0.791   0.890
 0.702   H    0.890   1.000
 0.791   0.890   1.000   G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32D"/>
                </a:solidFill>
                <a:latin typeface="Aptos"/>
              </a:rPr>
              <a:t>The run converges after 7 sweeps under ε = 10⁻⁵. The greedy policy extracted from V₇ is then compared with the final policy from policy iteration.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32D"/>
                </a:solidFill>
                <a:latin typeface="Aptos"/>
              </a:rPr>
              <a:t>Part 3 — Checking Value Iteration Against Policy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F69"/>
                </a:solidFill>
                <a:latin typeface="Aptos"/>
              </a:rPr>
              <a:t>Both methods arrive at the same greedy policy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212080" cy="306324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371600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Value Iteration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755648"/>
            <a:ext cx="480974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Start with V₀ = 0
→ apply Bellman optimality update
→ 7 sweeps
→ obtain V*
→ extract greedy policy π*(s)=argmaxₐ Q(s,a)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5212080" cy="3063240"/>
          </a:xfrm>
          <a:prstGeom prst="roundRect">
            <a:avLst/>
          </a:prstGeom>
          <a:solidFill>
            <a:srgbClr val="F7F8FA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371600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32D"/>
                </a:solidFill>
                <a:latin typeface="Aptos"/>
              </a:rPr>
              <a:t>Policy Iteration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755648"/>
            <a:ext cx="480974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3C46"/>
                </a:solidFill>
                <a:latin typeface="Aptos"/>
              </a:rPr>
              <a:t>Start with π₀ = uniform random
→ evaluate π₀
→ improve policy
→ evaluate improved policy
→ continue until stable
→ final stable policy after 2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32832"/>
                </a:solidFill>
                <a:latin typeface="Aptos"/>
              </a:rPr>
              <a:t>Comparison: the greedy policy extracted from V₇ matches the final stable policy obtained by policy iteration.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